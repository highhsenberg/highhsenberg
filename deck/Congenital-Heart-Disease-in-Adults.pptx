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cover today: why congenital heart disease turns up for the first time in an adult, and how to tell cyanotic from acyanotic disease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simply: survival has improved, so the population of adults with congenital heart disease keeps growing, and some of them were never diagnosed as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list in order. Endocarditis, arrhythmias, right heart failure from pulmonary hypertension, end stage heart failure, sudden cardiac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Eisenmenger, paradoxical embolism, polycythemia and pregnancy. Pregnancy matters because that is often the first proper cardiac assessment a young woman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mechanism in the whole topic, because it links the acyanotic group to the cyanotic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headings only: maternal infections, drugs, genetic abnormalities, chromosomal abnormalities.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Ts for the cyanotic group. The acyanotic group is the septal defects, the duct, and the obstructive lesions.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comparison table. Cyanosis, clubbing, polycythemia and growth retardation belong to the cyanotic group. Pulmonary hypertension belongs to the acyanotic left to right shunts.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children squat, give the four step chain: less venous return, more peripheral resistance, less right to left shunt, better cerebral oxygenation.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points,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8503920" y="-1371600"/>
            <a:ext cx="5669280" cy="5669280"/>
          </a:xfrm>
          <a:prstGeom prst="ellipse">
            <a:avLst/>
          </a:prstGeom>
          <a:solidFill>
            <a:srgbClr val="990011"/>
          </a:solidFill>
          <a:ln/>
        </p:spPr>
      </p:sp>
      <p:sp>
        <p:nvSpPr>
          <p:cNvPr id="3" name="Shape 1"/>
          <p:cNvSpPr/>
          <p:nvPr/>
        </p:nvSpPr>
        <p:spPr>
          <a:xfrm>
            <a:off x="10058400" y="3291840"/>
            <a:ext cx="3840480" cy="3840480"/>
          </a:xfrm>
          <a:prstGeom prst="ellipse">
            <a:avLst/>
          </a:prstGeom>
          <a:solidFill>
            <a:srgbClr val="FFFFFF"/>
          </a:solidFill>
          <a:ln/>
        </p:spPr>
      </p:sp>
      <p:sp>
        <p:nvSpPr>
          <p:cNvPr id="4" name="Text 2"/>
          <p:cNvSpPr txBox="1"/>
          <p:nvPr/>
        </p:nvSpPr>
        <p:spPr>
          <a:xfrm>
            <a:off x="731520" y="1143000"/>
            <a:ext cx="8229600" cy="274320"/>
          </a:xfrm>
          <a:prstGeom prst="rect">
            <a:avLst/>
          </a:prstGeom>
          <a:noFill/>
          <a:ln/>
        </p:spPr>
        <p:txBody>
          <a:bodyPr wrap="square" lIns="0" tIns="0" rIns="0" bIns="0" rtlCol="0" anchor="ctr"/>
          <a:lstStyle/>
          <a:p>
            <a:pPr indent="0" marL="0">
              <a:buNone/>
            </a:pPr>
            <a:r>
              <a:rPr lang="en-US" sz="1150" b="1" spc="200" kern="0" dirty="0">
                <a:solidFill>
                  <a:srgbClr val="E7B9BE"/>
                </a:solidFill>
                <a:latin typeface="Calibri" pitchFamily="34" charset="0"/>
                <a:ea typeface="Calibri" pitchFamily="34" charset="-122"/>
                <a:cs typeface="Calibri" pitchFamily="34" charset="-120"/>
              </a:rPr>
              <a:t>SEMINAR PRESENTATION  |  DISEASES OF THE CARDIOVASCULAR SYSTEM</a:t>
            </a:r>
            <a:endParaRPr lang="en-US" sz="1150" dirty="0"/>
          </a:p>
        </p:txBody>
      </p:sp>
      <p:sp>
        <p:nvSpPr>
          <p:cNvPr id="5" name="Text 3"/>
          <p:cNvSpPr txBox="1"/>
          <p:nvPr/>
        </p:nvSpPr>
        <p:spPr>
          <a:xfrm>
            <a:off x="731520" y="1600200"/>
            <a:ext cx="8412480" cy="173736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Bookman Old Style" pitchFamily="34" charset="0"/>
                <a:ea typeface="Bookman Old Style" pitchFamily="34" charset="-122"/>
                <a:cs typeface="Bookman Old Style" pitchFamily="34" charset="-120"/>
              </a:rPr>
              <a:t>Adult Presentation of</a:t>
            </a:r>
            <a:endParaRPr lang="en-US" sz="3800" dirty="0"/>
          </a:p>
          <a:p>
            <a:pPr indent="0" marL="0">
              <a:lnSpc>
                <a:spcPts val="4400"/>
              </a:lnSpc>
              <a:buNone/>
            </a:pPr>
            <a:r>
              <a:rPr lang="en-US" sz="3800" b="1" dirty="0">
                <a:solidFill>
                  <a:srgbClr val="FFFFFF"/>
                </a:solidFill>
                <a:latin typeface="Bookman Old Style" pitchFamily="34" charset="0"/>
                <a:ea typeface="Bookman Old Style" pitchFamily="34" charset="-122"/>
                <a:cs typeface="Bookman Old Style" pitchFamily="34" charset="-120"/>
              </a:rPr>
              <a:t>Congenital Heart Disease</a:t>
            </a:r>
            <a:endParaRPr lang="en-US" sz="3800" dirty="0"/>
          </a:p>
        </p:txBody>
      </p:sp>
      <p:sp>
        <p:nvSpPr>
          <p:cNvPr id="6" name="Text 4"/>
          <p:cNvSpPr txBox="1"/>
          <p:nvPr/>
        </p:nvSpPr>
        <p:spPr>
          <a:xfrm>
            <a:off x="731520" y="3520440"/>
            <a:ext cx="7498080" cy="822960"/>
          </a:xfrm>
          <a:prstGeom prst="rect">
            <a:avLst/>
          </a:prstGeom>
          <a:noFill/>
          <a:ln/>
        </p:spPr>
        <p:txBody>
          <a:bodyPr wrap="square" lIns="0" tIns="0" rIns="0" bIns="0" rtlCol="0" anchor="ctr"/>
          <a:lstStyle/>
          <a:p>
            <a:pPr indent="0" marL="0">
              <a:buNone/>
            </a:pPr>
            <a:r>
              <a:rPr lang="en-US" sz="1600" dirty="0">
                <a:solidFill>
                  <a:srgbClr val="D9D3E0"/>
                </a:solidFill>
                <a:latin typeface="Calibri" pitchFamily="34" charset="0"/>
                <a:ea typeface="Calibri" pitchFamily="34" charset="-122"/>
                <a:cs typeface="Calibri" pitchFamily="34" charset="-120"/>
              </a:rPr>
              <a:t>Causes of adult presentation, and the distinguishing features between cyanotic and acyanotic congenital heart disease</a:t>
            </a:r>
            <a:endParaRPr lang="en-US" sz="1600" dirty="0"/>
          </a:p>
        </p:txBody>
      </p:sp>
      <p:sp>
        <p:nvSpPr>
          <p:cNvPr id="7" name="Shape 5"/>
          <p:cNvSpPr/>
          <p:nvPr/>
        </p:nvSpPr>
        <p:spPr>
          <a:xfrm>
            <a:off x="731520" y="4709160"/>
            <a:ext cx="4114800" cy="658368"/>
          </a:xfrm>
          <a:prstGeom prst="roundRect">
            <a:avLst>
              <a:gd name="adj" fmla="val 13889"/>
            </a:avLst>
          </a:prstGeom>
          <a:solidFill>
            <a:srgbClr val="990011"/>
          </a:solidFill>
          <a:ln/>
        </p:spPr>
      </p:sp>
      <p:sp>
        <p:nvSpPr>
          <p:cNvPr id="8" name="Text 6"/>
          <p:cNvSpPr txBox="1"/>
          <p:nvPr/>
        </p:nvSpPr>
        <p:spPr>
          <a:xfrm>
            <a:off x="731520" y="4709160"/>
            <a:ext cx="411480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Congenital heart disease affects about 1% of live births</a:t>
            </a:r>
            <a:endParaRPr lang="en-US" sz="1250" dirty="0"/>
          </a:p>
        </p:txBody>
      </p:sp>
      <p:sp>
        <p:nvSpPr>
          <p:cNvPr id="9" name="Text 7"/>
          <p:cNvSpPr txBox="1"/>
          <p:nvPr/>
        </p:nvSpPr>
        <p:spPr>
          <a:xfrm>
            <a:off x="731520" y="5806440"/>
            <a:ext cx="5486400" cy="274320"/>
          </a:xfrm>
          <a:prstGeom prst="rect">
            <a:avLst/>
          </a:prstGeom>
          <a:noFill/>
          <a:ln/>
        </p:spPr>
        <p:txBody>
          <a:bodyPr wrap="square" lIns="0" tIns="0" rIns="0" bIns="0" rtlCol="0" anchor="ctr"/>
          <a:lstStyle/>
          <a:p>
            <a:pPr indent="0" marL="0">
              <a:buNone/>
            </a:pPr>
            <a:r>
              <a:rPr lang="en-US" sz="1200" dirty="0">
                <a:solidFill>
                  <a:srgbClr val="B9B2C6"/>
                </a:solidFill>
                <a:latin typeface="Calibri" pitchFamily="34" charset="0"/>
                <a:ea typeface="Calibri" pitchFamily="34" charset="-122"/>
                <a:cs typeface="Calibri" pitchFamily="34" charset="-120"/>
              </a:rPr>
              <a:t>MBBS Fourth Year  •  General Medicine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SETTING THE SCENE</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Why do we see congenital heart disease in adults?</a:t>
            </a:r>
            <a:endParaRPr lang="en-US" sz="3200" dirty="0"/>
          </a:p>
        </p:txBody>
      </p:sp>
      <p:sp>
        <p:nvSpPr>
          <p:cNvPr id="4" name="Shape 2"/>
          <p:cNvSpPr/>
          <p:nvPr/>
        </p:nvSpPr>
        <p:spPr>
          <a:xfrm>
            <a:off x="548640" y="1554480"/>
            <a:ext cx="5577840" cy="1874520"/>
          </a:xfrm>
          <a:prstGeom prst="roundRect">
            <a:avLst>
              <a:gd name="adj" fmla="val 4390"/>
            </a:avLst>
          </a:prstGeom>
          <a:solidFill>
            <a:srgbClr val="F6E4E6"/>
          </a:solidFill>
          <a:ln/>
          <a:effectLst>
            <a:outerShdw sx="100000" sy="100000" kx="0" ky="0" algn="bl" rotWithShape="0" blurRad="101600" dist="12700" dir="5400000">
              <a:srgbClr val="9A8A8A">
                <a:alpha val="20000"/>
              </a:srgbClr>
            </a:outerShdw>
          </a:effectLst>
        </p:spPr>
      </p:sp>
      <p:sp>
        <p:nvSpPr>
          <p:cNvPr id="5" name="Text 3"/>
          <p:cNvSpPr txBox="1"/>
          <p:nvPr/>
        </p:nvSpPr>
        <p:spPr>
          <a:xfrm>
            <a:off x="868680" y="1737360"/>
            <a:ext cx="1463040" cy="868680"/>
          </a:xfrm>
          <a:prstGeom prst="rect">
            <a:avLst/>
          </a:prstGeom>
          <a:noFill/>
          <a:ln/>
        </p:spPr>
        <p:txBody>
          <a:bodyPr wrap="square" lIns="0" tIns="0" rIns="0" bIns="0" rtlCol="0" anchor="ctr"/>
          <a:lstStyle/>
          <a:p>
            <a:pPr indent="0" marL="0">
              <a:buNone/>
            </a:pPr>
            <a:r>
              <a:rPr lang="en-US" sz="4600" b="1" dirty="0">
                <a:solidFill>
                  <a:srgbClr val="990011"/>
                </a:solidFill>
                <a:latin typeface="Bookman Old Style" pitchFamily="34" charset="0"/>
                <a:ea typeface="Bookman Old Style" pitchFamily="34" charset="-122"/>
                <a:cs typeface="Bookman Old Style" pitchFamily="34" charset="-120"/>
              </a:rPr>
              <a:t>1%</a:t>
            </a:r>
            <a:endParaRPr lang="en-US" sz="4600" dirty="0"/>
          </a:p>
        </p:txBody>
      </p:sp>
      <p:sp>
        <p:nvSpPr>
          <p:cNvPr id="6" name="Text 4"/>
          <p:cNvSpPr txBox="1"/>
          <p:nvPr/>
        </p:nvSpPr>
        <p:spPr>
          <a:xfrm>
            <a:off x="2331720" y="1828800"/>
            <a:ext cx="3520440" cy="1097280"/>
          </a:xfrm>
          <a:prstGeom prst="rect">
            <a:avLst/>
          </a:prstGeom>
          <a:noFill/>
          <a:ln/>
        </p:spPr>
        <p:txBody>
          <a:bodyPr wrap="square" lIns="0" tIns="0" rIns="0" bIns="0" rtlCol="0" anchor="ctr"/>
          <a:lstStyle/>
          <a:p>
            <a:pPr indent="0" marL="0">
              <a:buNone/>
            </a:pPr>
            <a:r>
              <a:rPr lang="en-US" sz="1500" dirty="0">
                <a:solidFill>
                  <a:srgbClr val="231F20"/>
                </a:solidFill>
                <a:latin typeface="Calibri" pitchFamily="34" charset="0"/>
                <a:ea typeface="Calibri" pitchFamily="34" charset="-122"/>
                <a:cs typeface="Calibri" pitchFamily="34" charset="-120"/>
              </a:rPr>
              <a:t>of live births are affected by congenital heart disease.</a:t>
            </a:r>
            <a:endParaRPr lang="en-US" sz="1500" dirty="0"/>
          </a:p>
        </p:txBody>
      </p:sp>
      <p:sp>
        <p:nvSpPr>
          <p:cNvPr id="7" name="Text 5"/>
          <p:cNvSpPr txBox="1"/>
          <p:nvPr/>
        </p:nvSpPr>
        <p:spPr>
          <a:xfrm>
            <a:off x="868680" y="2788920"/>
            <a:ext cx="5029200" cy="502920"/>
          </a:xfrm>
          <a:prstGeom prst="rect">
            <a:avLst/>
          </a:prstGeom>
          <a:noFill/>
          <a:ln/>
        </p:spPr>
        <p:txBody>
          <a:bodyPr wrap="square" lIns="0" tIns="0" rIns="0" bIns="0" rtlCol="0" anchor="ctr"/>
          <a:lstStyle/>
          <a:p>
            <a:pPr indent="0" marL="0">
              <a:buNone/>
            </a:pPr>
            <a:r>
              <a:rPr lang="en-US" sz="1300" i="1" dirty="0">
                <a:solidFill>
                  <a:srgbClr val="6B6168"/>
                </a:solidFill>
                <a:latin typeface="Calibri" pitchFamily="34" charset="0"/>
                <a:ea typeface="Calibri" pitchFamily="34" charset="-122"/>
                <a:cs typeface="Calibri" pitchFamily="34" charset="-120"/>
              </a:rPr>
              <a:t>Males are affected more commonly, except ASD and PDA, which are more common in females.</a:t>
            </a:r>
            <a:endParaRPr lang="en-US" sz="1300" dirty="0"/>
          </a:p>
        </p:txBody>
      </p:sp>
      <p:sp>
        <p:nvSpPr>
          <p:cNvPr id="8" name="Shape 6"/>
          <p:cNvSpPr/>
          <p:nvPr/>
        </p:nvSpPr>
        <p:spPr>
          <a:xfrm>
            <a:off x="6355080" y="1554480"/>
            <a:ext cx="5257800" cy="1874520"/>
          </a:xfrm>
          <a:prstGeom prst="roundRect">
            <a:avLst>
              <a:gd name="adj" fmla="val 4390"/>
            </a:avLst>
          </a:prstGeom>
          <a:solidFill>
            <a:srgbClr val="FCF6F5"/>
          </a:solidFill>
          <a:ln/>
          <a:effectLst>
            <a:outerShdw sx="100000" sy="100000" kx="0" ky="0" algn="bl" rotWithShape="0" blurRad="101600" dist="12700" dir="5400000">
              <a:srgbClr val="9A8A8A">
                <a:alpha val="20000"/>
              </a:srgbClr>
            </a:outerShdw>
          </a:effectLst>
        </p:spPr>
      </p:sp>
      <p:sp>
        <p:nvSpPr>
          <p:cNvPr id="9" name="Text 7"/>
          <p:cNvSpPr txBox="1"/>
          <p:nvPr/>
        </p:nvSpPr>
        <p:spPr>
          <a:xfrm>
            <a:off x="6675120" y="1783080"/>
            <a:ext cx="4572000" cy="274320"/>
          </a:xfrm>
          <a:prstGeom prst="rect">
            <a:avLst/>
          </a:prstGeom>
          <a:noFill/>
          <a:ln/>
        </p:spPr>
        <p:txBody>
          <a:bodyPr wrap="square" lIns="0" tIns="0" rIns="0" bIns="0" rtlCol="0" anchor="ctr"/>
          <a:lstStyle/>
          <a:p>
            <a:pPr indent="0" marL="0">
              <a:buNone/>
            </a:pPr>
            <a:r>
              <a:rPr lang="en-US" sz="1200" b="1" spc="150" kern="0" dirty="0">
                <a:solidFill>
                  <a:srgbClr val="990011"/>
                </a:solidFill>
                <a:latin typeface="Calibri" pitchFamily="34" charset="0"/>
                <a:ea typeface="Calibri" pitchFamily="34" charset="-122"/>
                <a:cs typeface="Calibri" pitchFamily="34" charset="-120"/>
              </a:rPr>
              <a:t>The main reason</a:t>
            </a:r>
            <a:endParaRPr lang="en-US" sz="1200" dirty="0"/>
          </a:p>
        </p:txBody>
      </p:sp>
      <p:sp>
        <p:nvSpPr>
          <p:cNvPr id="10" name="Text 8"/>
          <p:cNvSpPr txBox="1"/>
          <p:nvPr/>
        </p:nvSpPr>
        <p:spPr>
          <a:xfrm>
            <a:off x="6675120" y="2103120"/>
            <a:ext cx="4617720" cy="1188720"/>
          </a:xfrm>
          <a:prstGeom prst="rect">
            <a:avLst/>
          </a:prstGeom>
          <a:noFill/>
          <a:ln/>
        </p:spPr>
        <p:txBody>
          <a:bodyPr wrap="square" lIns="0" tIns="0" rIns="0" bIns="0" rtlCol="0" anchor="ctr"/>
          <a:lstStyle/>
          <a:p>
            <a:pPr indent="0" marL="0">
              <a:buNone/>
            </a:pPr>
            <a:r>
              <a:rPr lang="en-US" sz="1500" dirty="0">
                <a:solidFill>
                  <a:srgbClr val="231F20"/>
                </a:solidFill>
                <a:latin typeface="Calibri" pitchFamily="34" charset="0"/>
                <a:ea typeface="Calibri" pitchFamily="34" charset="-122"/>
                <a:cs typeface="Calibri" pitchFamily="34" charset="-120"/>
              </a:rPr>
              <a:t>Because of improved medical and surgical management, more children with congenital heart disease are surviving into adolescence and adulthood.</a:t>
            </a:r>
            <a:endParaRPr lang="en-US" sz="1500" dirty="0"/>
          </a:p>
        </p:txBody>
      </p:sp>
      <p:sp>
        <p:nvSpPr>
          <p:cNvPr id="11" name="Shape 9"/>
          <p:cNvSpPr/>
          <p:nvPr/>
        </p:nvSpPr>
        <p:spPr>
          <a:xfrm>
            <a:off x="548640" y="3703320"/>
            <a:ext cx="11064240" cy="2331720"/>
          </a:xfrm>
          <a:prstGeom prst="roundRect">
            <a:avLst>
              <a:gd name="adj" fmla="val 3529"/>
            </a:avLst>
          </a:prstGeom>
          <a:solidFill>
            <a:srgbClr val="FFFFFF"/>
          </a:solidFill>
          <a:ln/>
          <a:effectLst>
            <a:outerShdw sx="100000" sy="100000" kx="0" ky="0" algn="bl" rotWithShape="0" blurRad="101600" dist="12700" dir="5400000">
              <a:srgbClr val="9A8A8A">
                <a:alpha val="20000"/>
              </a:srgbClr>
            </a:outerShdw>
          </a:effectLst>
        </p:spPr>
      </p:sp>
      <p:sp>
        <p:nvSpPr>
          <p:cNvPr id="12" name="Shape 10"/>
          <p:cNvSpPr/>
          <p:nvPr/>
        </p:nvSpPr>
        <p:spPr>
          <a:xfrm>
            <a:off x="548640" y="3703320"/>
            <a:ext cx="11064240" cy="2331720"/>
          </a:xfrm>
          <a:prstGeom prst="roundRect">
            <a:avLst>
              <a:gd name="adj" fmla="val 3529"/>
            </a:avLst>
          </a:prstGeom>
          <a:solidFill>
            <a:srgbClr val="FFFFFF"/>
          </a:solidFill>
          <a:ln w="12700">
            <a:solidFill>
              <a:srgbClr val="E4D8DA"/>
            </a:solidFill>
            <a:prstDash val="solid"/>
          </a:ln>
        </p:spPr>
      </p:sp>
      <p:sp>
        <p:nvSpPr>
          <p:cNvPr id="13" name="Text 11"/>
          <p:cNvSpPr txBox="1"/>
          <p:nvPr/>
        </p:nvSpPr>
        <p:spPr>
          <a:xfrm>
            <a:off x="868680" y="3913632"/>
            <a:ext cx="5486400" cy="320040"/>
          </a:xfrm>
          <a:prstGeom prst="rect">
            <a:avLst/>
          </a:prstGeom>
          <a:noFill/>
          <a:ln/>
        </p:spPr>
        <p:txBody>
          <a:bodyPr wrap="square" lIns="0" tIns="0" rIns="0" bIns="0" rtlCol="0" anchor="ctr"/>
          <a:lstStyle/>
          <a:p>
            <a:pPr indent="0" marL="0">
              <a:buNone/>
            </a:pPr>
            <a:r>
              <a:rPr lang="en-US" sz="1900" b="1" dirty="0">
                <a:solidFill>
                  <a:srgbClr val="2F3C7E"/>
                </a:solidFill>
                <a:latin typeface="Bookman Old Style" pitchFamily="34" charset="0"/>
                <a:ea typeface="Bookman Old Style" pitchFamily="34" charset="-122"/>
                <a:cs typeface="Bookman Old Style" pitchFamily="34" charset="-120"/>
              </a:rPr>
              <a:t>Recognise it early</a:t>
            </a:r>
            <a:endParaRPr lang="en-US" sz="1900" dirty="0"/>
          </a:p>
        </p:txBody>
      </p:sp>
      <p:sp>
        <p:nvSpPr>
          <p:cNvPr id="14" name="Text 12"/>
          <p:cNvSpPr txBox="1"/>
          <p:nvPr/>
        </p:nvSpPr>
        <p:spPr>
          <a:xfrm>
            <a:off x="868680" y="4343400"/>
            <a:ext cx="10424160" cy="14630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31F20"/>
                </a:solidFill>
                <a:latin typeface="Calibri" pitchFamily="34" charset="0"/>
                <a:ea typeface="Calibri" pitchFamily="34" charset="-122"/>
                <a:cs typeface="Calibri" pitchFamily="34" charset="-120"/>
              </a:rPr>
              <a:t>Congenital heart disease should be recognized as early as possible, since early treatment is associated with better outcome.</a:t>
            </a:r>
            <a:endParaRPr lang="en-US" sz="1500" dirty="0"/>
          </a:p>
          <a:p>
            <a:pPr marL="342900" indent="-342900">
              <a:spcAft>
                <a:spcPts val="800"/>
              </a:spcAft>
              <a:buSzPct val="100000"/>
              <a:buChar char="•"/>
            </a:pPr>
            <a:r>
              <a:rPr lang="en-US" sz="1500" dirty="0">
                <a:solidFill>
                  <a:srgbClr val="231F20"/>
                </a:solidFill>
                <a:latin typeface="Calibri" pitchFamily="34" charset="0"/>
                <a:ea typeface="Calibri" pitchFamily="34" charset="-122"/>
                <a:cs typeface="Calibri" pitchFamily="34" charset="-120"/>
              </a:rPr>
              <a:t>When it is missed in childhood, the disease declares itself later through its complications, and that is the adult presentation.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ENUMERATION</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Causes of adult presentation</a:t>
            </a:r>
            <a:endParaRPr lang="en-US" sz="3200" dirty="0"/>
          </a:p>
        </p:txBody>
      </p:sp>
      <p:sp>
        <p:nvSpPr>
          <p:cNvPr id="4" name="Text 2"/>
          <p:cNvSpPr txBox="1"/>
          <p:nvPr/>
        </p:nvSpPr>
        <p:spPr>
          <a:xfrm>
            <a:off x="548640" y="1325880"/>
            <a:ext cx="10515600" cy="320040"/>
          </a:xfrm>
          <a:prstGeom prst="rect">
            <a:avLst/>
          </a:prstGeom>
          <a:noFill/>
          <a:ln/>
        </p:spPr>
        <p:txBody>
          <a:bodyPr wrap="square" lIns="0" tIns="0" rIns="0" bIns="0" rtlCol="0" anchor="ctr"/>
          <a:lstStyle/>
          <a:p>
            <a:pPr indent="0" marL="0">
              <a:buNone/>
            </a:pPr>
            <a:r>
              <a:rPr lang="en-US" sz="1400" i="1" dirty="0">
                <a:solidFill>
                  <a:srgbClr val="6B6168"/>
                </a:solidFill>
                <a:latin typeface="Calibri" pitchFamily="34" charset="0"/>
                <a:ea typeface="Calibri" pitchFamily="34" charset="-122"/>
                <a:cs typeface="Calibri" pitchFamily="34" charset="-120"/>
              </a:rPr>
              <a:t>These complications may be the first time that the presence of congenital heart disease is noted.</a:t>
            </a:r>
            <a:endParaRPr lang="en-US" sz="1400" dirty="0"/>
          </a:p>
        </p:txBody>
      </p:sp>
      <p:sp>
        <p:nvSpPr>
          <p:cNvPr id="5" name="Shape 3"/>
          <p:cNvSpPr/>
          <p:nvPr/>
        </p:nvSpPr>
        <p:spPr>
          <a:xfrm>
            <a:off x="548640" y="1783080"/>
            <a:ext cx="11064240" cy="786384"/>
          </a:xfrm>
          <a:prstGeom prst="roundRect">
            <a:avLst>
              <a:gd name="adj" fmla="val 10465"/>
            </a:avLst>
          </a:prstGeom>
          <a:solidFill>
            <a:srgbClr val="FCF6F5"/>
          </a:solidFill>
          <a:ln/>
          <a:effectLst>
            <a:outerShdw sx="100000" sy="100000" kx="0" ky="0" algn="bl" rotWithShape="0" blurRad="101600" dist="12700" dir="5400000">
              <a:srgbClr val="9A8A8A">
                <a:alpha val="20000"/>
              </a:srgbClr>
            </a:outerShdw>
          </a:effectLst>
        </p:spPr>
      </p:sp>
      <p:sp>
        <p:nvSpPr>
          <p:cNvPr id="6" name="Shape 4"/>
          <p:cNvSpPr/>
          <p:nvPr/>
        </p:nvSpPr>
        <p:spPr>
          <a:xfrm>
            <a:off x="822960" y="2020824"/>
            <a:ext cx="310896" cy="310896"/>
          </a:xfrm>
          <a:prstGeom prst="ellipse">
            <a:avLst/>
          </a:prstGeom>
          <a:solidFill>
            <a:srgbClr val="2F3C7E"/>
          </a:solidFill>
          <a:ln/>
        </p:spPr>
      </p:sp>
      <p:sp>
        <p:nvSpPr>
          <p:cNvPr id="7" name="Text 5"/>
          <p:cNvSpPr txBox="1"/>
          <p:nvPr/>
        </p:nvSpPr>
        <p:spPr>
          <a:xfrm>
            <a:off x="822960" y="20208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892808"/>
            <a:ext cx="4937760" cy="310896"/>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Infective endocarditis</a:t>
            </a:r>
            <a:endParaRPr lang="en-US" sz="1550" dirty="0"/>
          </a:p>
        </p:txBody>
      </p:sp>
      <p:sp>
        <p:nvSpPr>
          <p:cNvPr id="9" name="Text 7"/>
          <p:cNvSpPr txBox="1"/>
          <p:nvPr/>
        </p:nvSpPr>
        <p:spPr>
          <a:xfrm>
            <a:off x="1325880" y="2203704"/>
            <a:ext cx="9966960" cy="292608"/>
          </a:xfrm>
          <a:prstGeom prst="rect">
            <a:avLst/>
          </a:prstGeom>
          <a:noFill/>
          <a:ln/>
        </p:spPr>
        <p:txBody>
          <a:bodyPr wrap="square" lIns="0" tIns="0" rIns="0" bIns="0" rtlCol="0" anchor="ctr"/>
          <a:lstStyle/>
          <a:p>
            <a:pPr indent="0" marL="0">
              <a:buNone/>
            </a:pPr>
            <a:r>
              <a:rPr lang="en-US" sz="1300" dirty="0">
                <a:solidFill>
                  <a:srgbClr val="6B6168"/>
                </a:solidFill>
                <a:latin typeface="Calibri" pitchFamily="34" charset="0"/>
                <a:ea typeface="Calibri" pitchFamily="34" charset="-122"/>
                <a:cs typeface="Calibri" pitchFamily="34" charset="-120"/>
              </a:rPr>
              <a:t>Occurs at the sites of shunts and damaged valves.</a:t>
            </a:r>
            <a:endParaRPr lang="en-US" sz="1300" dirty="0"/>
          </a:p>
        </p:txBody>
      </p:sp>
      <p:sp>
        <p:nvSpPr>
          <p:cNvPr id="10" name="Shape 8"/>
          <p:cNvSpPr/>
          <p:nvPr/>
        </p:nvSpPr>
        <p:spPr>
          <a:xfrm>
            <a:off x="548640" y="2688336"/>
            <a:ext cx="11064240" cy="786384"/>
          </a:xfrm>
          <a:prstGeom prst="roundRect">
            <a:avLst>
              <a:gd name="adj" fmla="val 10465"/>
            </a:avLst>
          </a:prstGeom>
          <a:solidFill>
            <a:srgbClr val="FFFFFF"/>
          </a:solidFill>
          <a:ln/>
          <a:effectLst>
            <a:outerShdw sx="100000" sy="100000" kx="0" ky="0" algn="bl" rotWithShape="0" blurRad="101600" dist="12700" dir="5400000">
              <a:srgbClr val="9A8A8A">
                <a:alpha val="20000"/>
              </a:srgbClr>
            </a:outerShdw>
          </a:effectLst>
        </p:spPr>
      </p:sp>
      <p:sp>
        <p:nvSpPr>
          <p:cNvPr id="11" name="Shape 9"/>
          <p:cNvSpPr/>
          <p:nvPr/>
        </p:nvSpPr>
        <p:spPr>
          <a:xfrm>
            <a:off x="822960" y="2926080"/>
            <a:ext cx="310896" cy="310896"/>
          </a:xfrm>
          <a:prstGeom prst="ellipse">
            <a:avLst/>
          </a:prstGeom>
          <a:solidFill>
            <a:srgbClr val="2F3C7E"/>
          </a:solidFill>
          <a:ln/>
        </p:spPr>
      </p:sp>
      <p:sp>
        <p:nvSpPr>
          <p:cNvPr id="12" name="Text 10"/>
          <p:cNvSpPr txBox="1"/>
          <p:nvPr/>
        </p:nvSpPr>
        <p:spPr>
          <a:xfrm>
            <a:off x="822960" y="2926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25880" y="2798064"/>
            <a:ext cx="4937760" cy="310896"/>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Atrial and ventricular arrhythmias</a:t>
            </a:r>
            <a:endParaRPr lang="en-US" sz="1550" dirty="0"/>
          </a:p>
        </p:txBody>
      </p:sp>
      <p:sp>
        <p:nvSpPr>
          <p:cNvPr id="14" name="Text 12"/>
          <p:cNvSpPr txBox="1"/>
          <p:nvPr/>
        </p:nvSpPr>
        <p:spPr>
          <a:xfrm>
            <a:off x="1325880" y="3108960"/>
            <a:ext cx="9966960" cy="292608"/>
          </a:xfrm>
          <a:prstGeom prst="rect">
            <a:avLst/>
          </a:prstGeom>
          <a:noFill/>
          <a:ln/>
        </p:spPr>
        <p:txBody>
          <a:bodyPr wrap="square" lIns="0" tIns="0" rIns="0" bIns="0" rtlCol="0" anchor="ctr"/>
          <a:lstStyle/>
          <a:p>
            <a:pPr indent="0" marL="0">
              <a:buNone/>
            </a:pPr>
            <a:r>
              <a:rPr lang="en-US" sz="1300" dirty="0">
                <a:solidFill>
                  <a:srgbClr val="6B6168"/>
                </a:solidFill>
                <a:latin typeface="Calibri" pitchFamily="34" charset="0"/>
                <a:ea typeface="Calibri" pitchFamily="34" charset="-122"/>
                <a:cs typeface="Calibri" pitchFamily="34" charset="-120"/>
              </a:rPr>
              <a:t>Present as palpitations in a previously undiagnosed adult.</a:t>
            </a:r>
            <a:endParaRPr lang="en-US" sz="1300" dirty="0"/>
          </a:p>
        </p:txBody>
      </p:sp>
      <p:sp>
        <p:nvSpPr>
          <p:cNvPr id="15" name="Shape 13"/>
          <p:cNvSpPr/>
          <p:nvPr/>
        </p:nvSpPr>
        <p:spPr>
          <a:xfrm>
            <a:off x="548640" y="3593592"/>
            <a:ext cx="11064240" cy="786384"/>
          </a:xfrm>
          <a:prstGeom prst="roundRect">
            <a:avLst>
              <a:gd name="adj" fmla="val 10465"/>
            </a:avLst>
          </a:prstGeom>
          <a:solidFill>
            <a:srgbClr val="FCF6F5"/>
          </a:solidFill>
          <a:ln/>
          <a:effectLst>
            <a:outerShdw sx="100000" sy="100000" kx="0" ky="0" algn="bl" rotWithShape="0" blurRad="101600" dist="12700" dir="5400000">
              <a:srgbClr val="9A8A8A">
                <a:alpha val="20000"/>
              </a:srgbClr>
            </a:outerShdw>
          </a:effectLst>
        </p:spPr>
      </p:sp>
      <p:sp>
        <p:nvSpPr>
          <p:cNvPr id="16" name="Shape 14"/>
          <p:cNvSpPr/>
          <p:nvPr/>
        </p:nvSpPr>
        <p:spPr>
          <a:xfrm>
            <a:off x="822960" y="3831336"/>
            <a:ext cx="310896" cy="310896"/>
          </a:xfrm>
          <a:prstGeom prst="ellipse">
            <a:avLst/>
          </a:prstGeom>
          <a:solidFill>
            <a:srgbClr val="2F3C7E"/>
          </a:solidFill>
          <a:ln/>
        </p:spPr>
      </p:sp>
      <p:sp>
        <p:nvSpPr>
          <p:cNvPr id="17" name="Text 15"/>
          <p:cNvSpPr txBox="1"/>
          <p:nvPr/>
        </p:nvSpPr>
        <p:spPr>
          <a:xfrm>
            <a:off x="822960" y="3831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3703320"/>
            <a:ext cx="4937760" cy="310896"/>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Right heart failure due to pulmonary hypertension</a:t>
            </a:r>
            <a:endParaRPr lang="en-US" sz="1550" dirty="0"/>
          </a:p>
        </p:txBody>
      </p:sp>
      <p:sp>
        <p:nvSpPr>
          <p:cNvPr id="19" name="Text 17"/>
          <p:cNvSpPr txBox="1"/>
          <p:nvPr/>
        </p:nvSpPr>
        <p:spPr>
          <a:xfrm>
            <a:off x="1325880" y="4014216"/>
            <a:ext cx="9966960" cy="292608"/>
          </a:xfrm>
          <a:prstGeom prst="rect">
            <a:avLst/>
          </a:prstGeom>
          <a:noFill/>
          <a:ln/>
        </p:spPr>
        <p:txBody>
          <a:bodyPr wrap="square" lIns="0" tIns="0" rIns="0" bIns="0" rtlCol="0" anchor="ctr"/>
          <a:lstStyle/>
          <a:p>
            <a:pPr indent="0" marL="0">
              <a:buNone/>
            </a:pPr>
            <a:r>
              <a:rPr lang="en-US" sz="1300" dirty="0">
                <a:solidFill>
                  <a:srgbClr val="6B6168"/>
                </a:solidFill>
                <a:latin typeface="Calibri" pitchFamily="34" charset="0"/>
                <a:ea typeface="Calibri" pitchFamily="34" charset="-122"/>
                <a:cs typeface="Calibri" pitchFamily="34" charset="-120"/>
              </a:rPr>
              <a:t>Follows a long standing left to right shunt.</a:t>
            </a:r>
            <a:endParaRPr lang="en-US" sz="1300" dirty="0"/>
          </a:p>
        </p:txBody>
      </p:sp>
      <p:sp>
        <p:nvSpPr>
          <p:cNvPr id="20" name="Shape 18"/>
          <p:cNvSpPr/>
          <p:nvPr/>
        </p:nvSpPr>
        <p:spPr>
          <a:xfrm>
            <a:off x="548640" y="4498848"/>
            <a:ext cx="11064240" cy="786384"/>
          </a:xfrm>
          <a:prstGeom prst="roundRect">
            <a:avLst>
              <a:gd name="adj" fmla="val 10465"/>
            </a:avLst>
          </a:prstGeom>
          <a:solidFill>
            <a:srgbClr val="FFFFFF"/>
          </a:solidFill>
          <a:ln/>
          <a:effectLst>
            <a:outerShdw sx="100000" sy="100000" kx="0" ky="0" algn="bl" rotWithShape="0" blurRad="101600" dist="12700" dir="5400000">
              <a:srgbClr val="9A8A8A">
                <a:alpha val="20000"/>
              </a:srgbClr>
            </a:outerShdw>
          </a:effectLst>
        </p:spPr>
      </p:sp>
      <p:sp>
        <p:nvSpPr>
          <p:cNvPr id="21" name="Shape 19"/>
          <p:cNvSpPr/>
          <p:nvPr/>
        </p:nvSpPr>
        <p:spPr>
          <a:xfrm>
            <a:off x="822960" y="4736592"/>
            <a:ext cx="310896" cy="310896"/>
          </a:xfrm>
          <a:prstGeom prst="ellipse">
            <a:avLst/>
          </a:prstGeom>
          <a:solidFill>
            <a:srgbClr val="2F3C7E"/>
          </a:solidFill>
          <a:ln/>
        </p:spPr>
      </p:sp>
      <p:sp>
        <p:nvSpPr>
          <p:cNvPr id="22" name="Text 20"/>
          <p:cNvSpPr txBox="1"/>
          <p:nvPr/>
        </p:nvSpPr>
        <p:spPr>
          <a:xfrm>
            <a:off x="822960" y="47365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25880" y="4608576"/>
            <a:ext cx="4937760" cy="310896"/>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End stage heart failure</a:t>
            </a:r>
            <a:endParaRPr lang="en-US" sz="1550" dirty="0"/>
          </a:p>
        </p:txBody>
      </p:sp>
      <p:sp>
        <p:nvSpPr>
          <p:cNvPr id="24" name="Text 22"/>
          <p:cNvSpPr txBox="1"/>
          <p:nvPr/>
        </p:nvSpPr>
        <p:spPr>
          <a:xfrm>
            <a:off x="1325880" y="4919472"/>
            <a:ext cx="9966960" cy="292608"/>
          </a:xfrm>
          <a:prstGeom prst="rect">
            <a:avLst/>
          </a:prstGeom>
          <a:noFill/>
          <a:ln/>
        </p:spPr>
        <p:txBody>
          <a:bodyPr wrap="square" lIns="0" tIns="0" rIns="0" bIns="0" rtlCol="0" anchor="ctr"/>
          <a:lstStyle/>
          <a:p>
            <a:pPr indent="0" marL="0">
              <a:buNone/>
            </a:pPr>
            <a:r>
              <a:rPr lang="en-US" sz="1300" dirty="0">
                <a:solidFill>
                  <a:srgbClr val="6B6168"/>
                </a:solidFill>
                <a:latin typeface="Calibri" pitchFamily="34" charset="0"/>
                <a:ea typeface="Calibri" pitchFamily="34" charset="-122"/>
                <a:cs typeface="Calibri" pitchFamily="34" charset="-120"/>
              </a:rPr>
              <a:t>The late outcome of an uncorrected lesion.</a:t>
            </a:r>
            <a:endParaRPr lang="en-US" sz="1300" dirty="0"/>
          </a:p>
        </p:txBody>
      </p:sp>
      <p:sp>
        <p:nvSpPr>
          <p:cNvPr id="25" name="Shape 23"/>
          <p:cNvSpPr/>
          <p:nvPr/>
        </p:nvSpPr>
        <p:spPr>
          <a:xfrm>
            <a:off x="548640" y="5404104"/>
            <a:ext cx="11064240" cy="786384"/>
          </a:xfrm>
          <a:prstGeom prst="roundRect">
            <a:avLst>
              <a:gd name="adj" fmla="val 10465"/>
            </a:avLst>
          </a:prstGeom>
          <a:solidFill>
            <a:srgbClr val="FCF6F5"/>
          </a:solidFill>
          <a:ln/>
          <a:effectLst>
            <a:outerShdw sx="100000" sy="100000" kx="0" ky="0" algn="bl" rotWithShape="0" blurRad="101600" dist="12700" dir="5400000">
              <a:srgbClr val="9A8A8A">
                <a:alpha val="20000"/>
              </a:srgbClr>
            </a:outerShdw>
          </a:effectLst>
        </p:spPr>
      </p:sp>
      <p:sp>
        <p:nvSpPr>
          <p:cNvPr id="26" name="Shape 24"/>
          <p:cNvSpPr/>
          <p:nvPr/>
        </p:nvSpPr>
        <p:spPr>
          <a:xfrm>
            <a:off x="822960" y="5641848"/>
            <a:ext cx="310896" cy="310896"/>
          </a:xfrm>
          <a:prstGeom prst="ellipse">
            <a:avLst/>
          </a:prstGeom>
          <a:solidFill>
            <a:srgbClr val="990011"/>
          </a:solidFill>
          <a:ln/>
        </p:spPr>
      </p:sp>
      <p:sp>
        <p:nvSpPr>
          <p:cNvPr id="27" name="Text 25"/>
          <p:cNvSpPr txBox="1"/>
          <p:nvPr/>
        </p:nvSpPr>
        <p:spPr>
          <a:xfrm>
            <a:off x="822960" y="56418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5513832"/>
            <a:ext cx="4937760" cy="310896"/>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Sudden cardiac death</a:t>
            </a:r>
            <a:endParaRPr lang="en-US" sz="1550" dirty="0"/>
          </a:p>
        </p:txBody>
      </p:sp>
      <p:sp>
        <p:nvSpPr>
          <p:cNvPr id="29" name="Text 27"/>
          <p:cNvSpPr txBox="1"/>
          <p:nvPr/>
        </p:nvSpPr>
        <p:spPr>
          <a:xfrm>
            <a:off x="1325880" y="5824728"/>
            <a:ext cx="9966960" cy="292608"/>
          </a:xfrm>
          <a:prstGeom prst="rect">
            <a:avLst/>
          </a:prstGeom>
          <a:noFill/>
          <a:ln/>
        </p:spPr>
        <p:txBody>
          <a:bodyPr wrap="square" lIns="0" tIns="0" rIns="0" bIns="0" rtlCol="0" anchor="ctr"/>
          <a:lstStyle/>
          <a:p>
            <a:pPr indent="0" marL="0">
              <a:buNone/>
            </a:pPr>
            <a:r>
              <a:rPr lang="en-US" sz="1300" dirty="0">
                <a:solidFill>
                  <a:srgbClr val="6B6168"/>
                </a:solidFill>
                <a:latin typeface="Calibri" pitchFamily="34" charset="0"/>
                <a:ea typeface="Calibri" pitchFamily="34" charset="-122"/>
                <a:cs typeface="Calibri" pitchFamily="34" charset="-120"/>
              </a:rPr>
              <a:t>May be the very first event that reveals the diagnosis.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ENUMERATION CONTINUED</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Other ways it surfaces in adult life</a:t>
            </a:r>
            <a:endParaRPr lang="en-US" sz="3200" dirty="0"/>
          </a:p>
        </p:txBody>
      </p:sp>
      <p:sp>
        <p:nvSpPr>
          <p:cNvPr id="4" name="Shape 2"/>
          <p:cNvSpPr/>
          <p:nvPr/>
        </p:nvSpPr>
        <p:spPr>
          <a:xfrm>
            <a:off x="548640" y="1508760"/>
            <a:ext cx="11064240" cy="1097280"/>
          </a:xfrm>
          <a:prstGeom prst="roundRect">
            <a:avLst>
              <a:gd name="adj" fmla="val 7500"/>
            </a:avLst>
          </a:prstGeom>
          <a:solidFill>
            <a:srgbClr val="F6E4E6"/>
          </a:solidFill>
          <a:ln/>
          <a:effectLst>
            <a:outerShdw sx="100000" sy="100000" kx="0" ky="0" algn="bl" rotWithShape="0" blurRad="101600" dist="12700" dir="5400000">
              <a:srgbClr val="9A8A8A">
                <a:alpha val="20000"/>
              </a:srgbClr>
            </a:outerShdw>
          </a:effectLst>
        </p:spPr>
      </p:sp>
      <p:sp>
        <p:nvSpPr>
          <p:cNvPr id="5" name="Text 3"/>
          <p:cNvSpPr txBox="1"/>
          <p:nvPr/>
        </p:nvSpPr>
        <p:spPr>
          <a:xfrm>
            <a:off x="914400" y="1664208"/>
            <a:ext cx="3291840" cy="777240"/>
          </a:xfrm>
          <a:prstGeom prst="rect">
            <a:avLst/>
          </a:prstGeom>
          <a:noFill/>
          <a:ln/>
        </p:spPr>
        <p:txBody>
          <a:bodyPr wrap="square" lIns="0" tIns="0" rIns="0" bIns="0" rtlCol="0" anchor="ctr"/>
          <a:lstStyle/>
          <a:p>
            <a:pPr indent="0" marL="0">
              <a:buNone/>
            </a:pPr>
            <a:r>
              <a:rPr lang="en-US" sz="1600" b="1" dirty="0">
                <a:solidFill>
                  <a:srgbClr val="990011"/>
                </a:solidFill>
                <a:latin typeface="Bookman Old Style" pitchFamily="34" charset="0"/>
                <a:ea typeface="Bookman Old Style" pitchFamily="34" charset="-122"/>
                <a:cs typeface="Bookman Old Style" pitchFamily="34" charset="-120"/>
              </a:rPr>
              <a:t>Eisenmenger's syndrome</a:t>
            </a:r>
            <a:endParaRPr lang="en-US" sz="1600" dirty="0"/>
          </a:p>
        </p:txBody>
      </p:sp>
      <p:sp>
        <p:nvSpPr>
          <p:cNvPr id="6" name="Text 4"/>
          <p:cNvSpPr txBox="1"/>
          <p:nvPr/>
        </p:nvSpPr>
        <p:spPr>
          <a:xfrm>
            <a:off x="4343400" y="1664208"/>
            <a:ext cx="6949440" cy="822960"/>
          </a:xfrm>
          <a:prstGeom prst="rect">
            <a:avLst/>
          </a:prstGeom>
          <a:noFill/>
          <a:ln/>
        </p:spPr>
        <p:txBody>
          <a:bodyPr wrap="square" lIns="0" tIns="0" rIns="0" bIns="0" rtlCol="0" anchor="ctr"/>
          <a:lstStyle/>
          <a:p>
            <a:pPr indent="0" marL="0">
              <a:buNone/>
            </a:pPr>
            <a:r>
              <a:rPr lang="en-US" sz="1350" dirty="0">
                <a:solidFill>
                  <a:srgbClr val="231F20"/>
                </a:solidFill>
                <a:latin typeface="Calibri" pitchFamily="34" charset="0"/>
                <a:ea typeface="Calibri" pitchFamily="34" charset="-122"/>
                <a:cs typeface="Calibri" pitchFamily="34" charset="-120"/>
              </a:rPr>
              <a:t>Pressure in the pulmonary arterial system exceeds that on the left side, and the shunt reverses from right to left. The patient becomes cyanosed.</a:t>
            </a:r>
            <a:endParaRPr lang="en-US" sz="1350" dirty="0"/>
          </a:p>
        </p:txBody>
      </p:sp>
      <p:sp>
        <p:nvSpPr>
          <p:cNvPr id="7" name="Shape 5"/>
          <p:cNvSpPr/>
          <p:nvPr/>
        </p:nvSpPr>
        <p:spPr>
          <a:xfrm>
            <a:off x="548640" y="2715768"/>
            <a:ext cx="11064240" cy="1097280"/>
          </a:xfrm>
          <a:prstGeom prst="roundRect">
            <a:avLst>
              <a:gd name="adj" fmla="val 7500"/>
            </a:avLst>
          </a:prstGeom>
          <a:solidFill>
            <a:srgbClr val="FCF6F5"/>
          </a:solidFill>
          <a:ln/>
          <a:effectLst>
            <a:outerShdw sx="100000" sy="100000" kx="0" ky="0" algn="bl" rotWithShape="0" blurRad="101600" dist="12700" dir="5400000">
              <a:srgbClr val="9A8A8A">
                <a:alpha val="20000"/>
              </a:srgbClr>
            </a:outerShdw>
          </a:effectLst>
        </p:spPr>
      </p:sp>
      <p:sp>
        <p:nvSpPr>
          <p:cNvPr id="8" name="Text 6"/>
          <p:cNvSpPr txBox="1"/>
          <p:nvPr/>
        </p:nvSpPr>
        <p:spPr>
          <a:xfrm>
            <a:off x="914400" y="2871216"/>
            <a:ext cx="3291840" cy="777240"/>
          </a:xfrm>
          <a:prstGeom prst="rect">
            <a:avLst/>
          </a:prstGeom>
          <a:noFill/>
          <a:ln/>
        </p:spPr>
        <p:txBody>
          <a:bodyPr wrap="square" lIns="0" tIns="0" rIns="0" bIns="0" rtlCol="0" anchor="ctr"/>
          <a:lstStyle/>
          <a:p>
            <a:pPr indent="0" marL="0">
              <a:buNone/>
            </a:pPr>
            <a:r>
              <a:rPr lang="en-US" sz="1600" b="1" dirty="0">
                <a:solidFill>
                  <a:srgbClr val="990011"/>
                </a:solidFill>
                <a:latin typeface="Bookman Old Style" pitchFamily="34" charset="0"/>
                <a:ea typeface="Bookman Old Style" pitchFamily="34" charset="-122"/>
                <a:cs typeface="Bookman Old Style" pitchFamily="34" charset="-120"/>
              </a:rPr>
              <a:t>Paradoxical embolism</a:t>
            </a:r>
            <a:endParaRPr lang="en-US" sz="1600" dirty="0"/>
          </a:p>
        </p:txBody>
      </p:sp>
      <p:sp>
        <p:nvSpPr>
          <p:cNvPr id="9" name="Text 7"/>
          <p:cNvSpPr txBox="1"/>
          <p:nvPr/>
        </p:nvSpPr>
        <p:spPr>
          <a:xfrm>
            <a:off x="4343400" y="2871216"/>
            <a:ext cx="6949440" cy="822960"/>
          </a:xfrm>
          <a:prstGeom prst="rect">
            <a:avLst/>
          </a:prstGeom>
          <a:noFill/>
          <a:ln/>
        </p:spPr>
        <p:txBody>
          <a:bodyPr wrap="square" lIns="0" tIns="0" rIns="0" bIns="0" rtlCol="0" anchor="ctr"/>
          <a:lstStyle/>
          <a:p>
            <a:pPr indent="0" marL="0">
              <a:buNone/>
            </a:pPr>
            <a:r>
              <a:rPr lang="en-US" sz="1350" dirty="0">
                <a:solidFill>
                  <a:srgbClr val="231F20"/>
                </a:solidFill>
                <a:latin typeface="Calibri" pitchFamily="34" charset="0"/>
                <a:ea typeface="Calibri" pitchFamily="34" charset="-122"/>
                <a:cs typeface="Calibri" pitchFamily="34" charset="-120"/>
              </a:rPr>
              <a:t>A thrombus passes from the systemic veins to the systemic arterial circulation through a communication such as a VSD, raising the risk of cerebrovascular accidents and abscesses.</a:t>
            </a:r>
            <a:endParaRPr lang="en-US" sz="1350" dirty="0"/>
          </a:p>
        </p:txBody>
      </p:sp>
      <p:sp>
        <p:nvSpPr>
          <p:cNvPr id="10" name="Shape 8"/>
          <p:cNvSpPr/>
          <p:nvPr/>
        </p:nvSpPr>
        <p:spPr>
          <a:xfrm>
            <a:off x="548640" y="3922776"/>
            <a:ext cx="11064240" cy="1097280"/>
          </a:xfrm>
          <a:prstGeom prst="roundRect">
            <a:avLst>
              <a:gd name="adj" fmla="val 7500"/>
            </a:avLst>
          </a:prstGeom>
          <a:solidFill>
            <a:srgbClr val="F6E4E6"/>
          </a:solidFill>
          <a:ln/>
          <a:effectLst>
            <a:outerShdw sx="100000" sy="100000" kx="0" ky="0" algn="bl" rotWithShape="0" blurRad="101600" dist="12700" dir="5400000">
              <a:srgbClr val="9A8A8A">
                <a:alpha val="20000"/>
              </a:srgbClr>
            </a:outerShdw>
          </a:effectLst>
        </p:spPr>
      </p:sp>
      <p:sp>
        <p:nvSpPr>
          <p:cNvPr id="11" name="Text 9"/>
          <p:cNvSpPr txBox="1"/>
          <p:nvPr/>
        </p:nvSpPr>
        <p:spPr>
          <a:xfrm>
            <a:off x="914400" y="4078224"/>
            <a:ext cx="3291840" cy="777240"/>
          </a:xfrm>
          <a:prstGeom prst="rect">
            <a:avLst/>
          </a:prstGeom>
          <a:noFill/>
          <a:ln/>
        </p:spPr>
        <p:txBody>
          <a:bodyPr wrap="square" lIns="0" tIns="0" rIns="0" bIns="0" rtlCol="0" anchor="ctr"/>
          <a:lstStyle/>
          <a:p>
            <a:pPr indent="0" marL="0">
              <a:buNone/>
            </a:pPr>
            <a:r>
              <a:rPr lang="en-US" sz="1600" b="1" dirty="0">
                <a:solidFill>
                  <a:srgbClr val="990011"/>
                </a:solidFill>
                <a:latin typeface="Bookman Old Style" pitchFamily="34" charset="0"/>
                <a:ea typeface="Bookman Old Style" pitchFamily="34" charset="-122"/>
                <a:cs typeface="Bookman Old Style" pitchFamily="34" charset="-120"/>
              </a:rPr>
              <a:t>Polycythemia and thromboembolism</a:t>
            </a:r>
            <a:endParaRPr lang="en-US" sz="1600" dirty="0"/>
          </a:p>
        </p:txBody>
      </p:sp>
      <p:sp>
        <p:nvSpPr>
          <p:cNvPr id="12" name="Text 10"/>
          <p:cNvSpPr txBox="1"/>
          <p:nvPr/>
        </p:nvSpPr>
        <p:spPr>
          <a:xfrm>
            <a:off x="4343400" y="4078224"/>
            <a:ext cx="6949440" cy="822960"/>
          </a:xfrm>
          <a:prstGeom prst="rect">
            <a:avLst/>
          </a:prstGeom>
          <a:noFill/>
          <a:ln/>
        </p:spPr>
        <p:txBody>
          <a:bodyPr wrap="square" lIns="0" tIns="0" rIns="0" bIns="0" rtlCol="0" anchor="ctr"/>
          <a:lstStyle/>
          <a:p>
            <a:pPr indent="0" marL="0">
              <a:buNone/>
            </a:pPr>
            <a:r>
              <a:rPr lang="en-US" sz="1350" dirty="0">
                <a:solidFill>
                  <a:srgbClr val="231F20"/>
                </a:solidFill>
                <a:latin typeface="Calibri" pitchFamily="34" charset="0"/>
                <a:ea typeface="Calibri" pitchFamily="34" charset="-122"/>
                <a:cs typeface="Calibri" pitchFamily="34" charset="-120"/>
              </a:rPr>
              <a:t>Secondary to chronic hypoxemia, leading to hyperviscosity and an increased risk of thromboembolism and strokes.</a:t>
            </a:r>
            <a:endParaRPr lang="en-US" sz="1350" dirty="0"/>
          </a:p>
        </p:txBody>
      </p:sp>
      <p:sp>
        <p:nvSpPr>
          <p:cNvPr id="13" name="Shape 11"/>
          <p:cNvSpPr/>
          <p:nvPr/>
        </p:nvSpPr>
        <p:spPr>
          <a:xfrm>
            <a:off x="548640" y="5129784"/>
            <a:ext cx="11064240" cy="1097280"/>
          </a:xfrm>
          <a:prstGeom prst="roundRect">
            <a:avLst>
              <a:gd name="adj" fmla="val 7500"/>
            </a:avLst>
          </a:prstGeom>
          <a:solidFill>
            <a:srgbClr val="FCF6F5"/>
          </a:solidFill>
          <a:ln/>
          <a:effectLst>
            <a:outerShdw sx="100000" sy="100000" kx="0" ky="0" algn="bl" rotWithShape="0" blurRad="101600" dist="12700" dir="5400000">
              <a:srgbClr val="9A8A8A">
                <a:alpha val="20000"/>
              </a:srgbClr>
            </a:outerShdw>
          </a:effectLst>
        </p:spPr>
      </p:sp>
      <p:sp>
        <p:nvSpPr>
          <p:cNvPr id="14" name="Text 12"/>
          <p:cNvSpPr txBox="1"/>
          <p:nvPr/>
        </p:nvSpPr>
        <p:spPr>
          <a:xfrm>
            <a:off x="914400" y="5285232"/>
            <a:ext cx="3291840" cy="777240"/>
          </a:xfrm>
          <a:prstGeom prst="rect">
            <a:avLst/>
          </a:prstGeom>
          <a:noFill/>
          <a:ln/>
        </p:spPr>
        <p:txBody>
          <a:bodyPr wrap="square" lIns="0" tIns="0" rIns="0" bIns="0" rtlCol="0" anchor="ctr"/>
          <a:lstStyle/>
          <a:p>
            <a:pPr indent="0" marL="0">
              <a:buNone/>
            </a:pPr>
            <a:r>
              <a:rPr lang="en-US" sz="1600" b="1" dirty="0">
                <a:solidFill>
                  <a:srgbClr val="990011"/>
                </a:solidFill>
                <a:latin typeface="Bookman Old Style" pitchFamily="34" charset="0"/>
                <a:ea typeface="Bookman Old Style" pitchFamily="34" charset="-122"/>
                <a:cs typeface="Bookman Old Style" pitchFamily="34" charset="-120"/>
              </a:rPr>
              <a:t>Pregnancy</a:t>
            </a:r>
            <a:endParaRPr lang="en-US" sz="1600" dirty="0"/>
          </a:p>
        </p:txBody>
      </p:sp>
      <p:sp>
        <p:nvSpPr>
          <p:cNvPr id="15" name="Text 13"/>
          <p:cNvSpPr txBox="1"/>
          <p:nvPr/>
        </p:nvSpPr>
        <p:spPr>
          <a:xfrm>
            <a:off x="4343400" y="5285232"/>
            <a:ext cx="6949440" cy="822960"/>
          </a:xfrm>
          <a:prstGeom prst="rect">
            <a:avLst/>
          </a:prstGeom>
          <a:noFill/>
          <a:ln/>
        </p:spPr>
        <p:txBody>
          <a:bodyPr wrap="square" lIns="0" tIns="0" rIns="0" bIns="0" rtlCol="0" anchor="ctr"/>
          <a:lstStyle/>
          <a:p>
            <a:pPr indent="0" marL="0">
              <a:buNone/>
            </a:pPr>
            <a:r>
              <a:rPr lang="en-US" sz="1350" dirty="0">
                <a:solidFill>
                  <a:srgbClr val="231F20"/>
                </a:solidFill>
                <a:latin typeface="Calibri" pitchFamily="34" charset="0"/>
                <a:ea typeface="Calibri" pitchFamily="34" charset="-122"/>
                <a:cs typeface="Calibri" pitchFamily="34" charset="-120"/>
              </a:rPr>
              <a:t>A woman with congenital heart disease needs close follow up. Pregnancy is usually safe except when pulmonary hypertension is present, where the prognosis for both mother and fetus is poor.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3C7E"/>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E7B9BE"/>
                </a:solidFill>
                <a:latin typeface="Calibri" pitchFamily="34" charset="0"/>
                <a:ea typeface="Calibri" pitchFamily="34" charset="-122"/>
                <a:cs typeface="Calibri" pitchFamily="34" charset="-120"/>
              </a:rPr>
              <a:t>EISENMENGER'S SYNDROME</a:t>
            </a:r>
            <a:endParaRPr lang="en-US" sz="1200" dirty="0"/>
          </a:p>
        </p:txBody>
      </p:sp>
      <p:sp>
        <p:nvSpPr>
          <p:cNvPr id="3" name="Text 1"/>
          <p:cNvSpPr txBox="1"/>
          <p:nvPr/>
        </p:nvSpPr>
        <p:spPr>
          <a:xfrm>
            <a:off x="548640" y="713232"/>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How a left to right shunt ends up cyanotic</a:t>
            </a:r>
            <a:endParaRPr lang="en-US" sz="3000" dirty="0"/>
          </a:p>
        </p:txBody>
      </p:sp>
      <p:sp>
        <p:nvSpPr>
          <p:cNvPr id="4" name="Shape 2"/>
          <p:cNvSpPr/>
          <p:nvPr/>
        </p:nvSpPr>
        <p:spPr>
          <a:xfrm>
            <a:off x="548640" y="1783080"/>
            <a:ext cx="2514600" cy="2377440"/>
          </a:xfrm>
          <a:prstGeom prst="roundRect">
            <a:avLst>
              <a:gd name="adj" fmla="val 3846"/>
            </a:avLst>
          </a:prstGeom>
          <a:solidFill>
            <a:srgbClr val="FFFFFF"/>
          </a:solidFill>
          <a:ln/>
        </p:spPr>
      </p:sp>
      <p:sp>
        <p:nvSpPr>
          <p:cNvPr id="5" name="Shape 3"/>
          <p:cNvSpPr/>
          <p:nvPr/>
        </p:nvSpPr>
        <p:spPr>
          <a:xfrm>
            <a:off x="777240" y="2011680"/>
            <a:ext cx="310896" cy="310896"/>
          </a:xfrm>
          <a:prstGeom prst="ellipse">
            <a:avLst/>
          </a:prstGeom>
          <a:solidFill>
            <a:srgbClr val="2F3C7E"/>
          </a:solidFill>
          <a:ln/>
        </p:spPr>
      </p:sp>
      <p:sp>
        <p:nvSpPr>
          <p:cNvPr id="6" name="Text 4"/>
          <p:cNvSpPr txBox="1"/>
          <p:nvPr/>
        </p:nvSpPr>
        <p:spPr>
          <a:xfrm>
            <a:off x="777240" y="2011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77240" y="2450592"/>
            <a:ext cx="2103120" cy="54864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Left to right shunt</a:t>
            </a:r>
            <a:endParaRPr lang="en-US" sz="1500" dirty="0"/>
          </a:p>
        </p:txBody>
      </p:sp>
      <p:sp>
        <p:nvSpPr>
          <p:cNvPr id="8" name="Text 6"/>
          <p:cNvSpPr txBox="1"/>
          <p:nvPr/>
        </p:nvSpPr>
        <p:spPr>
          <a:xfrm>
            <a:off x="777240" y="3017520"/>
            <a:ext cx="2103120" cy="100584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Blood from the left side of the heart, under high pressure, enters the right side.</a:t>
            </a:r>
            <a:endParaRPr lang="en-US" sz="1200" dirty="0"/>
          </a:p>
        </p:txBody>
      </p:sp>
      <p:sp>
        <p:nvSpPr>
          <p:cNvPr id="9" name="Shape 7"/>
          <p:cNvSpPr/>
          <p:nvPr/>
        </p:nvSpPr>
        <p:spPr>
          <a:xfrm>
            <a:off x="3154680" y="2788920"/>
            <a:ext cx="384048" cy="329184"/>
          </a:xfrm>
          <a:prstGeom prst="rightArrow">
            <a:avLst/>
          </a:prstGeom>
          <a:solidFill>
            <a:srgbClr val="E7B9BE"/>
          </a:solidFill>
          <a:ln/>
        </p:spPr>
      </p:sp>
      <p:sp>
        <p:nvSpPr>
          <p:cNvPr id="10" name="Shape 8"/>
          <p:cNvSpPr/>
          <p:nvPr/>
        </p:nvSpPr>
        <p:spPr>
          <a:xfrm>
            <a:off x="3538728" y="1783080"/>
            <a:ext cx="2514600" cy="2377440"/>
          </a:xfrm>
          <a:prstGeom prst="roundRect">
            <a:avLst>
              <a:gd name="adj" fmla="val 3846"/>
            </a:avLst>
          </a:prstGeom>
          <a:solidFill>
            <a:srgbClr val="FFFFFF"/>
          </a:solidFill>
          <a:ln/>
        </p:spPr>
      </p:sp>
      <p:sp>
        <p:nvSpPr>
          <p:cNvPr id="11" name="Shape 9"/>
          <p:cNvSpPr/>
          <p:nvPr/>
        </p:nvSpPr>
        <p:spPr>
          <a:xfrm>
            <a:off x="3767328" y="2011680"/>
            <a:ext cx="310896" cy="310896"/>
          </a:xfrm>
          <a:prstGeom prst="ellipse">
            <a:avLst/>
          </a:prstGeom>
          <a:solidFill>
            <a:srgbClr val="2F3C7E"/>
          </a:solidFill>
          <a:ln/>
        </p:spPr>
      </p:sp>
      <p:sp>
        <p:nvSpPr>
          <p:cNvPr id="12" name="Text 10"/>
          <p:cNvSpPr txBox="1"/>
          <p:nvPr/>
        </p:nvSpPr>
        <p:spPr>
          <a:xfrm>
            <a:off x="3767328" y="2011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767328" y="2450592"/>
            <a:ext cx="2103120" cy="54864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Into the pulmonary artery</a:t>
            </a:r>
            <a:endParaRPr lang="en-US" sz="1500" dirty="0"/>
          </a:p>
        </p:txBody>
      </p:sp>
      <p:sp>
        <p:nvSpPr>
          <p:cNvPr id="14" name="Text 12"/>
          <p:cNvSpPr txBox="1"/>
          <p:nvPr/>
        </p:nvSpPr>
        <p:spPr>
          <a:xfrm>
            <a:off x="3767328" y="3017520"/>
            <a:ext cx="2103120" cy="100584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That extra volume is carried on into the pulmonary artery.</a:t>
            </a:r>
            <a:endParaRPr lang="en-US" sz="1200" dirty="0"/>
          </a:p>
        </p:txBody>
      </p:sp>
      <p:sp>
        <p:nvSpPr>
          <p:cNvPr id="15" name="Shape 13"/>
          <p:cNvSpPr/>
          <p:nvPr/>
        </p:nvSpPr>
        <p:spPr>
          <a:xfrm>
            <a:off x="6144768" y="2788920"/>
            <a:ext cx="384048" cy="329184"/>
          </a:xfrm>
          <a:prstGeom prst="rightArrow">
            <a:avLst/>
          </a:prstGeom>
          <a:solidFill>
            <a:srgbClr val="E7B9BE"/>
          </a:solidFill>
          <a:ln/>
        </p:spPr>
      </p:sp>
      <p:sp>
        <p:nvSpPr>
          <p:cNvPr id="16" name="Shape 14"/>
          <p:cNvSpPr/>
          <p:nvPr/>
        </p:nvSpPr>
        <p:spPr>
          <a:xfrm>
            <a:off x="6528816" y="1783080"/>
            <a:ext cx="2514600" cy="2377440"/>
          </a:xfrm>
          <a:prstGeom prst="roundRect">
            <a:avLst>
              <a:gd name="adj" fmla="val 3846"/>
            </a:avLst>
          </a:prstGeom>
          <a:solidFill>
            <a:srgbClr val="FFFFFF"/>
          </a:solidFill>
          <a:ln/>
        </p:spPr>
      </p:sp>
      <p:sp>
        <p:nvSpPr>
          <p:cNvPr id="17" name="Shape 15"/>
          <p:cNvSpPr/>
          <p:nvPr/>
        </p:nvSpPr>
        <p:spPr>
          <a:xfrm>
            <a:off x="6757416" y="2011680"/>
            <a:ext cx="310896" cy="310896"/>
          </a:xfrm>
          <a:prstGeom prst="ellipse">
            <a:avLst/>
          </a:prstGeom>
          <a:solidFill>
            <a:srgbClr val="2F3C7E"/>
          </a:solidFill>
          <a:ln/>
        </p:spPr>
      </p:sp>
      <p:sp>
        <p:nvSpPr>
          <p:cNvPr id="18" name="Text 16"/>
          <p:cNvSpPr txBox="1"/>
          <p:nvPr/>
        </p:nvSpPr>
        <p:spPr>
          <a:xfrm>
            <a:off x="6757416" y="2011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757416" y="2450592"/>
            <a:ext cx="2103120" cy="54864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Pulmonary hypertension</a:t>
            </a:r>
            <a:endParaRPr lang="en-US" sz="1500" dirty="0"/>
          </a:p>
        </p:txBody>
      </p:sp>
      <p:sp>
        <p:nvSpPr>
          <p:cNvPr id="20" name="Text 18"/>
          <p:cNvSpPr txBox="1"/>
          <p:nvPr/>
        </p:nvSpPr>
        <p:spPr>
          <a:xfrm>
            <a:off x="6757416" y="3017520"/>
            <a:ext cx="2103120" cy="100584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Pressure in the pulmonary arterial system rises.</a:t>
            </a:r>
            <a:endParaRPr lang="en-US" sz="1200" dirty="0"/>
          </a:p>
        </p:txBody>
      </p:sp>
      <p:sp>
        <p:nvSpPr>
          <p:cNvPr id="21" name="Shape 19"/>
          <p:cNvSpPr/>
          <p:nvPr/>
        </p:nvSpPr>
        <p:spPr>
          <a:xfrm>
            <a:off x="9134856" y="2788920"/>
            <a:ext cx="384048" cy="329184"/>
          </a:xfrm>
          <a:prstGeom prst="rightArrow">
            <a:avLst/>
          </a:prstGeom>
          <a:solidFill>
            <a:srgbClr val="E7B9BE"/>
          </a:solidFill>
          <a:ln/>
        </p:spPr>
      </p:sp>
      <p:sp>
        <p:nvSpPr>
          <p:cNvPr id="22" name="Shape 20"/>
          <p:cNvSpPr/>
          <p:nvPr/>
        </p:nvSpPr>
        <p:spPr>
          <a:xfrm>
            <a:off x="9518904" y="1783080"/>
            <a:ext cx="2514600" cy="2377440"/>
          </a:xfrm>
          <a:prstGeom prst="roundRect">
            <a:avLst>
              <a:gd name="adj" fmla="val 3846"/>
            </a:avLst>
          </a:prstGeom>
          <a:solidFill>
            <a:srgbClr val="FFFFFF"/>
          </a:solidFill>
          <a:ln/>
        </p:spPr>
      </p:sp>
      <p:sp>
        <p:nvSpPr>
          <p:cNvPr id="23" name="Shape 21"/>
          <p:cNvSpPr/>
          <p:nvPr/>
        </p:nvSpPr>
        <p:spPr>
          <a:xfrm>
            <a:off x="9747504" y="2011680"/>
            <a:ext cx="310896" cy="310896"/>
          </a:xfrm>
          <a:prstGeom prst="ellipse">
            <a:avLst/>
          </a:prstGeom>
          <a:solidFill>
            <a:srgbClr val="990011"/>
          </a:solidFill>
          <a:ln/>
        </p:spPr>
      </p:sp>
      <p:sp>
        <p:nvSpPr>
          <p:cNvPr id="24" name="Text 22"/>
          <p:cNvSpPr txBox="1"/>
          <p:nvPr/>
        </p:nvSpPr>
        <p:spPr>
          <a:xfrm>
            <a:off x="9747504" y="2011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747504" y="2450592"/>
            <a:ext cx="2103120" cy="54864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Shunt reversal</a:t>
            </a:r>
            <a:endParaRPr lang="en-US" sz="1500" dirty="0"/>
          </a:p>
        </p:txBody>
      </p:sp>
      <p:sp>
        <p:nvSpPr>
          <p:cNvPr id="26" name="Text 24"/>
          <p:cNvSpPr txBox="1"/>
          <p:nvPr/>
        </p:nvSpPr>
        <p:spPr>
          <a:xfrm>
            <a:off x="9747504" y="3017520"/>
            <a:ext cx="2103120" cy="100584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Pulmonary pressure exceeds left sided pressure, so flow reverses from right to left.</a:t>
            </a:r>
            <a:endParaRPr lang="en-US" sz="1200" dirty="0"/>
          </a:p>
        </p:txBody>
      </p:sp>
      <p:sp>
        <p:nvSpPr>
          <p:cNvPr id="27" name="Shape 25"/>
          <p:cNvSpPr/>
          <p:nvPr/>
        </p:nvSpPr>
        <p:spPr>
          <a:xfrm>
            <a:off x="548640" y="4572000"/>
            <a:ext cx="11064240" cy="1051560"/>
          </a:xfrm>
          <a:prstGeom prst="roundRect">
            <a:avLst>
              <a:gd name="adj" fmla="val 8696"/>
            </a:avLst>
          </a:prstGeom>
          <a:solidFill>
            <a:srgbClr val="990011"/>
          </a:solidFill>
          <a:ln/>
        </p:spPr>
      </p:sp>
      <p:sp>
        <p:nvSpPr>
          <p:cNvPr id="28" name="Text 26"/>
          <p:cNvSpPr txBox="1"/>
          <p:nvPr/>
        </p:nvSpPr>
        <p:spPr>
          <a:xfrm>
            <a:off x="914400" y="4709160"/>
            <a:ext cx="1033272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This reversal of blood flow is referred to as Eisenmenger's syndrome. The patient who was acyanotic now becomes cyanotic, which is why an adult with a childhood murmur may present for the first time with cyanosis.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Etiology: the recognized risk factors</a:t>
            </a:r>
            <a:endParaRPr lang="en-US" sz="3200" dirty="0"/>
          </a:p>
        </p:txBody>
      </p:sp>
      <p:sp>
        <p:nvSpPr>
          <p:cNvPr id="4" name="Text 2"/>
          <p:cNvSpPr txBox="1"/>
          <p:nvPr/>
        </p:nvSpPr>
        <p:spPr>
          <a:xfrm>
            <a:off x="548640" y="1371600"/>
            <a:ext cx="11064240" cy="685800"/>
          </a:xfrm>
          <a:prstGeom prst="rect">
            <a:avLst/>
          </a:prstGeom>
          <a:noFill/>
          <a:ln/>
        </p:spPr>
        <p:txBody>
          <a:bodyPr wrap="square" lIns="0" tIns="0" rIns="0" bIns="0" rtlCol="0" anchor="ctr"/>
          <a:lstStyle/>
          <a:p>
            <a:pPr indent="0" marL="0">
              <a:buNone/>
            </a:pPr>
            <a:r>
              <a:rPr lang="en-US" sz="1450" dirty="0">
                <a:solidFill>
                  <a:srgbClr val="231F20"/>
                </a:solidFill>
                <a:latin typeface="Calibri" pitchFamily="34" charset="0"/>
                <a:ea typeface="Calibri" pitchFamily="34" charset="-122"/>
                <a:cs typeface="Calibri" pitchFamily="34" charset="-120"/>
              </a:rPr>
              <a:t>Congenital heart diseases are due to abnormal development of a normal structure, or failure of a normal structure to develop fully. Such maldevelopments are due to multifactorial genetic and environmental causes.</a:t>
            </a:r>
            <a:endParaRPr lang="en-US" sz="1450" dirty="0"/>
          </a:p>
        </p:txBody>
      </p:sp>
      <p:sp>
        <p:nvSpPr>
          <p:cNvPr id="5" name="Shape 3"/>
          <p:cNvSpPr/>
          <p:nvPr/>
        </p:nvSpPr>
        <p:spPr>
          <a:xfrm>
            <a:off x="548640" y="2286000"/>
            <a:ext cx="2697480" cy="3200400"/>
          </a:xfrm>
          <a:prstGeom prst="roundRect">
            <a:avLst>
              <a:gd name="adj" fmla="val 3390"/>
            </a:avLst>
          </a:prstGeom>
          <a:solidFill>
            <a:srgbClr val="FCF6F5"/>
          </a:solidFill>
          <a:ln/>
        </p:spPr>
      </p:sp>
      <p:sp>
        <p:nvSpPr>
          <p:cNvPr id="6" name="Shape 4"/>
          <p:cNvSpPr/>
          <p:nvPr/>
        </p:nvSpPr>
        <p:spPr>
          <a:xfrm>
            <a:off x="868680" y="2606040"/>
            <a:ext cx="457200" cy="457200"/>
          </a:xfrm>
          <a:prstGeom prst="ellipse">
            <a:avLst/>
          </a:prstGeom>
          <a:solidFill>
            <a:srgbClr val="990011"/>
          </a:solidFill>
          <a:ln/>
        </p:spPr>
      </p:sp>
      <p:sp>
        <p:nvSpPr>
          <p:cNvPr id="7" name="Text 5"/>
          <p:cNvSpPr txBox="1"/>
          <p:nvPr/>
        </p:nvSpPr>
        <p:spPr>
          <a:xfrm>
            <a:off x="86868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868680" y="3200400"/>
            <a:ext cx="2103120" cy="640080"/>
          </a:xfrm>
          <a:prstGeom prst="rect">
            <a:avLst/>
          </a:prstGeom>
          <a:noFill/>
          <a:ln/>
        </p:spPr>
        <p:txBody>
          <a:bodyPr wrap="square" lIns="0" tIns="0" rIns="0" bIns="0" rtlCol="0" anchor="ctr"/>
          <a:lstStyle/>
          <a:p>
            <a:pPr indent="0" marL="0">
              <a:buNone/>
            </a:pPr>
            <a:r>
              <a:rPr lang="en-US" sz="1550" b="1" dirty="0">
                <a:solidFill>
                  <a:srgbClr val="2F3C7E"/>
                </a:solidFill>
                <a:latin typeface="Bookman Old Style" pitchFamily="34" charset="0"/>
                <a:ea typeface="Bookman Old Style" pitchFamily="34" charset="-122"/>
                <a:cs typeface="Bookman Old Style" pitchFamily="34" charset="-120"/>
              </a:rPr>
              <a:t>Maternal infections</a:t>
            </a:r>
            <a:endParaRPr lang="en-US" sz="1550" dirty="0"/>
          </a:p>
        </p:txBody>
      </p:sp>
      <p:sp>
        <p:nvSpPr>
          <p:cNvPr id="9" name="Text 7"/>
          <p:cNvSpPr txBox="1"/>
          <p:nvPr/>
        </p:nvSpPr>
        <p:spPr>
          <a:xfrm>
            <a:off x="868680" y="3886200"/>
            <a:ext cx="2103120" cy="1463040"/>
          </a:xfrm>
          <a:prstGeom prst="rect">
            <a:avLst/>
          </a:prstGeom>
          <a:noFill/>
          <a:ln/>
        </p:spPr>
        <p:txBody>
          <a:bodyPr wrap="square" lIns="0" tIns="0" rIns="0" bIns="0" rtlCol="0" anchor="ctr"/>
          <a:lstStyle/>
          <a:p>
            <a:pPr indent="0" marL="0">
              <a:buNone/>
            </a:pPr>
            <a:r>
              <a:rPr lang="en-US" sz="1250" dirty="0">
                <a:solidFill>
                  <a:srgbClr val="6B6168"/>
                </a:solidFill>
                <a:latin typeface="Calibri" pitchFamily="34" charset="0"/>
                <a:ea typeface="Calibri" pitchFamily="34" charset="-122"/>
                <a:cs typeface="Calibri" pitchFamily="34" charset="-120"/>
              </a:rPr>
              <a:t>Rubella infection, causing persistent ductus arteriosus and pulmonary stenosis.</a:t>
            </a:r>
            <a:endParaRPr lang="en-US" sz="1250" dirty="0"/>
          </a:p>
        </p:txBody>
      </p:sp>
      <p:sp>
        <p:nvSpPr>
          <p:cNvPr id="10" name="Shape 8"/>
          <p:cNvSpPr/>
          <p:nvPr/>
        </p:nvSpPr>
        <p:spPr>
          <a:xfrm>
            <a:off x="3392424" y="2286000"/>
            <a:ext cx="2697480" cy="3200400"/>
          </a:xfrm>
          <a:prstGeom prst="roundRect">
            <a:avLst>
              <a:gd name="adj" fmla="val 3390"/>
            </a:avLst>
          </a:prstGeom>
          <a:solidFill>
            <a:srgbClr val="F6E4E6"/>
          </a:solidFill>
          <a:ln/>
        </p:spPr>
      </p:sp>
      <p:sp>
        <p:nvSpPr>
          <p:cNvPr id="11" name="Shape 9"/>
          <p:cNvSpPr/>
          <p:nvPr/>
        </p:nvSpPr>
        <p:spPr>
          <a:xfrm>
            <a:off x="3712464" y="2606040"/>
            <a:ext cx="457200" cy="457200"/>
          </a:xfrm>
          <a:prstGeom prst="ellipse">
            <a:avLst/>
          </a:prstGeom>
          <a:solidFill>
            <a:srgbClr val="990011"/>
          </a:solidFill>
          <a:ln/>
        </p:spPr>
      </p:sp>
      <p:sp>
        <p:nvSpPr>
          <p:cNvPr id="12" name="Text 10"/>
          <p:cNvSpPr txBox="1"/>
          <p:nvPr/>
        </p:nvSpPr>
        <p:spPr>
          <a:xfrm>
            <a:off x="3712464"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712464" y="3200400"/>
            <a:ext cx="2103120" cy="640080"/>
          </a:xfrm>
          <a:prstGeom prst="rect">
            <a:avLst/>
          </a:prstGeom>
          <a:noFill/>
          <a:ln/>
        </p:spPr>
        <p:txBody>
          <a:bodyPr wrap="square" lIns="0" tIns="0" rIns="0" bIns="0" rtlCol="0" anchor="ctr"/>
          <a:lstStyle/>
          <a:p>
            <a:pPr indent="0" marL="0">
              <a:buNone/>
            </a:pPr>
            <a:r>
              <a:rPr lang="en-US" sz="1550" b="1" dirty="0">
                <a:solidFill>
                  <a:srgbClr val="2F3C7E"/>
                </a:solidFill>
                <a:latin typeface="Bookman Old Style" pitchFamily="34" charset="0"/>
                <a:ea typeface="Bookman Old Style" pitchFamily="34" charset="-122"/>
                <a:cs typeface="Bookman Old Style" pitchFamily="34" charset="-120"/>
              </a:rPr>
              <a:t>Drugs</a:t>
            </a:r>
            <a:endParaRPr lang="en-US" sz="1550" dirty="0"/>
          </a:p>
        </p:txBody>
      </p:sp>
      <p:sp>
        <p:nvSpPr>
          <p:cNvPr id="14" name="Text 12"/>
          <p:cNvSpPr txBox="1"/>
          <p:nvPr/>
        </p:nvSpPr>
        <p:spPr>
          <a:xfrm>
            <a:off x="3712464" y="3886200"/>
            <a:ext cx="2103120" cy="1463040"/>
          </a:xfrm>
          <a:prstGeom prst="rect">
            <a:avLst/>
          </a:prstGeom>
          <a:noFill/>
          <a:ln/>
        </p:spPr>
        <p:txBody>
          <a:bodyPr wrap="square" lIns="0" tIns="0" rIns="0" bIns="0" rtlCol="0" anchor="ctr"/>
          <a:lstStyle/>
          <a:p>
            <a:pPr indent="0" marL="0">
              <a:buNone/>
            </a:pPr>
            <a:r>
              <a:rPr lang="en-US" sz="1250" dirty="0">
                <a:solidFill>
                  <a:srgbClr val="6B6168"/>
                </a:solidFill>
                <a:latin typeface="Calibri" pitchFamily="34" charset="0"/>
                <a:ea typeface="Calibri" pitchFamily="34" charset="-122"/>
                <a:cs typeface="Calibri" pitchFamily="34" charset="-120"/>
              </a:rPr>
              <a:t>Alcohol abuse causing septal defects, phenytoin associated with pulmonary stenosis, and radiation.</a:t>
            </a:r>
            <a:endParaRPr lang="en-US" sz="1250" dirty="0"/>
          </a:p>
        </p:txBody>
      </p:sp>
      <p:sp>
        <p:nvSpPr>
          <p:cNvPr id="15" name="Shape 13"/>
          <p:cNvSpPr/>
          <p:nvPr/>
        </p:nvSpPr>
        <p:spPr>
          <a:xfrm>
            <a:off x="6236208" y="2286000"/>
            <a:ext cx="2697480" cy="3200400"/>
          </a:xfrm>
          <a:prstGeom prst="roundRect">
            <a:avLst>
              <a:gd name="adj" fmla="val 3390"/>
            </a:avLst>
          </a:prstGeom>
          <a:solidFill>
            <a:srgbClr val="FCF6F5"/>
          </a:solidFill>
          <a:ln/>
        </p:spPr>
      </p:sp>
      <p:sp>
        <p:nvSpPr>
          <p:cNvPr id="16" name="Shape 14"/>
          <p:cNvSpPr/>
          <p:nvPr/>
        </p:nvSpPr>
        <p:spPr>
          <a:xfrm>
            <a:off x="6556248" y="2606040"/>
            <a:ext cx="457200" cy="457200"/>
          </a:xfrm>
          <a:prstGeom prst="ellipse">
            <a:avLst/>
          </a:prstGeom>
          <a:solidFill>
            <a:srgbClr val="990011"/>
          </a:solidFill>
          <a:ln/>
        </p:spPr>
      </p:sp>
      <p:sp>
        <p:nvSpPr>
          <p:cNvPr id="17" name="Text 15"/>
          <p:cNvSpPr txBox="1"/>
          <p:nvPr/>
        </p:nvSpPr>
        <p:spPr>
          <a:xfrm>
            <a:off x="6556248"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6556248" y="3200400"/>
            <a:ext cx="2103120" cy="640080"/>
          </a:xfrm>
          <a:prstGeom prst="rect">
            <a:avLst/>
          </a:prstGeom>
          <a:noFill/>
          <a:ln/>
        </p:spPr>
        <p:txBody>
          <a:bodyPr wrap="square" lIns="0" tIns="0" rIns="0" bIns="0" rtlCol="0" anchor="ctr"/>
          <a:lstStyle/>
          <a:p>
            <a:pPr indent="0" marL="0">
              <a:buNone/>
            </a:pPr>
            <a:r>
              <a:rPr lang="en-US" sz="1550" b="1" dirty="0">
                <a:solidFill>
                  <a:srgbClr val="2F3C7E"/>
                </a:solidFill>
                <a:latin typeface="Bookman Old Style" pitchFamily="34" charset="0"/>
                <a:ea typeface="Bookman Old Style" pitchFamily="34" charset="-122"/>
                <a:cs typeface="Bookman Old Style" pitchFamily="34" charset="-120"/>
              </a:rPr>
              <a:t>Genetic abnormalities</a:t>
            </a:r>
            <a:endParaRPr lang="en-US" sz="1550" dirty="0"/>
          </a:p>
        </p:txBody>
      </p:sp>
      <p:sp>
        <p:nvSpPr>
          <p:cNvPr id="19" name="Text 17"/>
          <p:cNvSpPr txBox="1"/>
          <p:nvPr/>
        </p:nvSpPr>
        <p:spPr>
          <a:xfrm>
            <a:off x="6556248" y="3886200"/>
            <a:ext cx="2103120" cy="1463040"/>
          </a:xfrm>
          <a:prstGeom prst="rect">
            <a:avLst/>
          </a:prstGeom>
          <a:noFill/>
          <a:ln/>
        </p:spPr>
        <p:txBody>
          <a:bodyPr wrap="square" lIns="0" tIns="0" rIns="0" bIns="0" rtlCol="0" anchor="ctr"/>
          <a:lstStyle/>
          <a:p>
            <a:pPr indent="0" marL="0">
              <a:buNone/>
            </a:pPr>
            <a:r>
              <a:rPr lang="en-US" sz="1250" dirty="0">
                <a:solidFill>
                  <a:srgbClr val="6B6168"/>
                </a:solidFill>
                <a:latin typeface="Calibri" pitchFamily="34" charset="0"/>
                <a:ea typeface="Calibri" pitchFamily="34" charset="-122"/>
                <a:cs typeface="Calibri" pitchFamily="34" charset="-120"/>
              </a:rPr>
              <a:t>The familial form of atrial septal defect and congenital heart block.</a:t>
            </a:r>
            <a:endParaRPr lang="en-US" sz="1250" dirty="0"/>
          </a:p>
        </p:txBody>
      </p:sp>
      <p:sp>
        <p:nvSpPr>
          <p:cNvPr id="20" name="Shape 18"/>
          <p:cNvSpPr/>
          <p:nvPr/>
        </p:nvSpPr>
        <p:spPr>
          <a:xfrm>
            <a:off x="9079992" y="2286000"/>
            <a:ext cx="2697480" cy="3200400"/>
          </a:xfrm>
          <a:prstGeom prst="roundRect">
            <a:avLst>
              <a:gd name="adj" fmla="val 3390"/>
            </a:avLst>
          </a:prstGeom>
          <a:solidFill>
            <a:srgbClr val="F6E4E6"/>
          </a:solidFill>
          <a:ln/>
        </p:spPr>
      </p:sp>
      <p:sp>
        <p:nvSpPr>
          <p:cNvPr id="21" name="Shape 19"/>
          <p:cNvSpPr/>
          <p:nvPr/>
        </p:nvSpPr>
        <p:spPr>
          <a:xfrm>
            <a:off x="9400032" y="2606040"/>
            <a:ext cx="457200" cy="457200"/>
          </a:xfrm>
          <a:prstGeom prst="ellipse">
            <a:avLst/>
          </a:prstGeom>
          <a:solidFill>
            <a:srgbClr val="990011"/>
          </a:solidFill>
          <a:ln/>
        </p:spPr>
      </p:sp>
      <p:sp>
        <p:nvSpPr>
          <p:cNvPr id="22" name="Text 20"/>
          <p:cNvSpPr txBox="1"/>
          <p:nvPr/>
        </p:nvSpPr>
        <p:spPr>
          <a:xfrm>
            <a:off x="9400032"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9400032" y="3200400"/>
            <a:ext cx="2103120" cy="640080"/>
          </a:xfrm>
          <a:prstGeom prst="rect">
            <a:avLst/>
          </a:prstGeom>
          <a:noFill/>
          <a:ln/>
        </p:spPr>
        <p:txBody>
          <a:bodyPr wrap="square" lIns="0" tIns="0" rIns="0" bIns="0" rtlCol="0" anchor="ctr"/>
          <a:lstStyle/>
          <a:p>
            <a:pPr indent="0" marL="0">
              <a:buNone/>
            </a:pPr>
            <a:r>
              <a:rPr lang="en-US" sz="1550" b="1" dirty="0">
                <a:solidFill>
                  <a:srgbClr val="2F3C7E"/>
                </a:solidFill>
                <a:latin typeface="Bookman Old Style" pitchFamily="34" charset="0"/>
                <a:ea typeface="Bookman Old Style" pitchFamily="34" charset="-122"/>
                <a:cs typeface="Bookman Old Style" pitchFamily="34" charset="-120"/>
              </a:rPr>
              <a:t>Chromosomal abnormalities</a:t>
            </a:r>
            <a:endParaRPr lang="en-US" sz="1550" dirty="0"/>
          </a:p>
        </p:txBody>
      </p:sp>
      <p:sp>
        <p:nvSpPr>
          <p:cNvPr id="24" name="Text 22"/>
          <p:cNvSpPr txBox="1"/>
          <p:nvPr/>
        </p:nvSpPr>
        <p:spPr>
          <a:xfrm>
            <a:off x="9400032" y="3886200"/>
            <a:ext cx="2103120" cy="1463040"/>
          </a:xfrm>
          <a:prstGeom prst="rect">
            <a:avLst/>
          </a:prstGeom>
          <a:noFill/>
          <a:ln/>
        </p:spPr>
        <p:txBody>
          <a:bodyPr wrap="square" lIns="0" tIns="0" rIns="0" bIns="0" rtlCol="0" anchor="ctr"/>
          <a:lstStyle/>
          <a:p>
            <a:pPr indent="0" marL="0">
              <a:buNone/>
            </a:pPr>
            <a:r>
              <a:rPr lang="en-US" sz="1250" dirty="0">
                <a:solidFill>
                  <a:srgbClr val="6B6168"/>
                </a:solidFill>
                <a:latin typeface="Calibri" pitchFamily="34" charset="0"/>
                <a:ea typeface="Calibri" pitchFamily="34" charset="-122"/>
                <a:cs typeface="Calibri" pitchFamily="34" charset="-120"/>
              </a:rPr>
              <a:t>Septal defects and tetralogy of Fallot in Down's syndrome (trisomy 21), coarctation of the aorta in Turner's syndrome (45, XO).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TABLE 3.20</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Classification of congenital heart diseases</a:t>
            </a:r>
            <a:endParaRPr lang="en-US" sz="3200" dirty="0"/>
          </a:p>
        </p:txBody>
      </p:sp>
      <p:sp>
        <p:nvSpPr>
          <p:cNvPr id="4" name="Shape 2"/>
          <p:cNvSpPr/>
          <p:nvPr/>
        </p:nvSpPr>
        <p:spPr>
          <a:xfrm>
            <a:off x="548640" y="1508760"/>
            <a:ext cx="5394960" cy="4160520"/>
          </a:xfrm>
          <a:prstGeom prst="roundRect">
            <a:avLst>
              <a:gd name="adj" fmla="val 2198"/>
            </a:avLst>
          </a:prstGeom>
          <a:solidFill>
            <a:srgbClr val="2F3C7E"/>
          </a:solidFill>
          <a:ln/>
        </p:spPr>
      </p:sp>
      <p:sp>
        <p:nvSpPr>
          <p:cNvPr id="5" name="Text 3"/>
          <p:cNvSpPr txBox="1"/>
          <p:nvPr/>
        </p:nvSpPr>
        <p:spPr>
          <a:xfrm>
            <a:off x="914400" y="1783080"/>
            <a:ext cx="4572000" cy="365760"/>
          </a:xfrm>
          <a:prstGeom prst="rect">
            <a:avLst/>
          </a:prstGeom>
          <a:noFill/>
          <a:ln/>
        </p:spPr>
        <p:txBody>
          <a:bodyPr wrap="square" lIns="0" tIns="0" rIns="0" bIns="0" rtlCol="0" anchor="ctr"/>
          <a:lstStyle/>
          <a:p>
            <a:pPr indent="0" marL="0">
              <a:buNone/>
            </a:pPr>
            <a:r>
              <a:rPr lang="en-US" sz="2200" b="1" dirty="0">
                <a:solidFill>
                  <a:srgbClr val="FFFFFF"/>
                </a:solidFill>
                <a:latin typeface="Bookman Old Style" pitchFamily="34" charset="0"/>
                <a:ea typeface="Bookman Old Style" pitchFamily="34" charset="-122"/>
                <a:cs typeface="Bookman Old Style" pitchFamily="34" charset="-120"/>
              </a:rPr>
              <a:t>CYANOTIC</a:t>
            </a:r>
            <a:endParaRPr lang="en-US" sz="2200" dirty="0"/>
          </a:p>
        </p:txBody>
      </p:sp>
      <p:sp>
        <p:nvSpPr>
          <p:cNvPr id="6" name="Text 4"/>
          <p:cNvSpPr txBox="1"/>
          <p:nvPr/>
        </p:nvSpPr>
        <p:spPr>
          <a:xfrm>
            <a:off x="914400" y="2176272"/>
            <a:ext cx="4572000" cy="274320"/>
          </a:xfrm>
          <a:prstGeom prst="rect">
            <a:avLst/>
          </a:prstGeom>
          <a:noFill/>
          <a:ln/>
        </p:spPr>
        <p:txBody>
          <a:bodyPr wrap="square" lIns="0" tIns="0" rIns="0" bIns="0" rtlCol="0" anchor="ctr"/>
          <a:lstStyle/>
          <a:p>
            <a:pPr indent="0" marL="0">
              <a:buNone/>
            </a:pPr>
            <a:r>
              <a:rPr lang="en-US" sz="1250" i="1" dirty="0">
                <a:solidFill>
                  <a:srgbClr val="E7B9BE"/>
                </a:solidFill>
                <a:latin typeface="Calibri" pitchFamily="34" charset="0"/>
                <a:ea typeface="Calibri" pitchFamily="34" charset="-122"/>
                <a:cs typeface="Calibri" pitchFamily="34" charset="-120"/>
              </a:rPr>
              <a:t>Right to left shunting, so the patient is blue</a:t>
            </a:r>
            <a:endParaRPr lang="en-US" sz="1250" dirty="0"/>
          </a:p>
        </p:txBody>
      </p:sp>
      <p:sp>
        <p:nvSpPr>
          <p:cNvPr id="7" name="Text 5"/>
          <p:cNvSpPr txBox="1"/>
          <p:nvPr/>
        </p:nvSpPr>
        <p:spPr>
          <a:xfrm>
            <a:off x="914400" y="2606040"/>
            <a:ext cx="4663440" cy="210312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Tetralogy of Fallot</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Transposition of the great vessels</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Tricuspid atresia</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Truncus arteriosus</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Total anomalous pulmonary venous connection (TAPVC)</a:t>
            </a:r>
            <a:endParaRPr lang="en-US" sz="1450" dirty="0"/>
          </a:p>
        </p:txBody>
      </p:sp>
      <p:sp>
        <p:nvSpPr>
          <p:cNvPr id="8" name="Shape 6"/>
          <p:cNvSpPr/>
          <p:nvPr/>
        </p:nvSpPr>
        <p:spPr>
          <a:xfrm>
            <a:off x="914400" y="4892040"/>
            <a:ext cx="4206240" cy="548640"/>
          </a:xfrm>
          <a:prstGeom prst="roundRect">
            <a:avLst>
              <a:gd name="adj" fmla="val 16667"/>
            </a:avLst>
          </a:prstGeom>
          <a:solidFill>
            <a:srgbClr val="990011"/>
          </a:solidFill>
          <a:ln/>
        </p:spPr>
      </p:sp>
      <p:sp>
        <p:nvSpPr>
          <p:cNvPr id="9" name="Text 7"/>
          <p:cNvSpPr txBox="1"/>
          <p:nvPr/>
        </p:nvSpPr>
        <p:spPr>
          <a:xfrm>
            <a:off x="914400" y="4892040"/>
            <a:ext cx="4206240"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Mnemonic: the five Ts</a:t>
            </a:r>
            <a:endParaRPr lang="en-US" sz="1350" dirty="0"/>
          </a:p>
        </p:txBody>
      </p:sp>
      <p:sp>
        <p:nvSpPr>
          <p:cNvPr id="10" name="Shape 8"/>
          <p:cNvSpPr/>
          <p:nvPr/>
        </p:nvSpPr>
        <p:spPr>
          <a:xfrm>
            <a:off x="6217920" y="1508760"/>
            <a:ext cx="5394960" cy="4160520"/>
          </a:xfrm>
          <a:prstGeom prst="roundRect">
            <a:avLst>
              <a:gd name="adj" fmla="val 2198"/>
            </a:avLst>
          </a:prstGeom>
          <a:solidFill>
            <a:srgbClr val="F6E4E6"/>
          </a:solidFill>
          <a:ln/>
        </p:spPr>
      </p:sp>
      <p:sp>
        <p:nvSpPr>
          <p:cNvPr id="11" name="Text 9"/>
          <p:cNvSpPr txBox="1"/>
          <p:nvPr/>
        </p:nvSpPr>
        <p:spPr>
          <a:xfrm>
            <a:off x="6583680" y="1783080"/>
            <a:ext cx="4572000" cy="365760"/>
          </a:xfrm>
          <a:prstGeom prst="rect">
            <a:avLst/>
          </a:prstGeom>
          <a:noFill/>
          <a:ln/>
        </p:spPr>
        <p:txBody>
          <a:bodyPr wrap="square" lIns="0" tIns="0" rIns="0" bIns="0" rtlCol="0" anchor="ctr"/>
          <a:lstStyle/>
          <a:p>
            <a:pPr indent="0" marL="0">
              <a:buNone/>
            </a:pPr>
            <a:r>
              <a:rPr lang="en-US" sz="2200" b="1" dirty="0">
                <a:solidFill>
                  <a:srgbClr val="990011"/>
                </a:solidFill>
                <a:latin typeface="Bookman Old Style" pitchFamily="34" charset="0"/>
                <a:ea typeface="Bookman Old Style" pitchFamily="34" charset="-122"/>
                <a:cs typeface="Bookman Old Style" pitchFamily="34" charset="-120"/>
              </a:rPr>
              <a:t>ACYANOTIC</a:t>
            </a:r>
            <a:endParaRPr lang="en-US" sz="2200" dirty="0"/>
          </a:p>
        </p:txBody>
      </p:sp>
      <p:sp>
        <p:nvSpPr>
          <p:cNvPr id="12" name="Text 10"/>
          <p:cNvSpPr txBox="1"/>
          <p:nvPr/>
        </p:nvSpPr>
        <p:spPr>
          <a:xfrm>
            <a:off x="6583680" y="2176272"/>
            <a:ext cx="4754880" cy="274320"/>
          </a:xfrm>
          <a:prstGeom prst="rect">
            <a:avLst/>
          </a:prstGeom>
          <a:noFill/>
          <a:ln/>
        </p:spPr>
        <p:txBody>
          <a:bodyPr wrap="square" lIns="0" tIns="0" rIns="0" bIns="0" rtlCol="0" anchor="ctr"/>
          <a:lstStyle/>
          <a:p>
            <a:pPr indent="0" marL="0">
              <a:buNone/>
            </a:pPr>
            <a:r>
              <a:rPr lang="en-US" sz="1250" i="1" dirty="0">
                <a:solidFill>
                  <a:srgbClr val="6B6168"/>
                </a:solidFill>
                <a:latin typeface="Calibri" pitchFamily="34" charset="0"/>
                <a:ea typeface="Calibri" pitchFamily="34" charset="-122"/>
                <a:cs typeface="Calibri" pitchFamily="34" charset="-120"/>
              </a:rPr>
              <a:t>Left to right shunt or an obstructive lesion, no cyanosis</a:t>
            </a:r>
            <a:endParaRPr lang="en-US" sz="1250" dirty="0"/>
          </a:p>
        </p:txBody>
      </p:sp>
      <p:sp>
        <p:nvSpPr>
          <p:cNvPr id="13" name="Text 11"/>
          <p:cNvSpPr txBox="1"/>
          <p:nvPr/>
        </p:nvSpPr>
        <p:spPr>
          <a:xfrm>
            <a:off x="6583680" y="2606040"/>
            <a:ext cx="4663440" cy="2926080"/>
          </a:xfrm>
          <a:prstGeom prst="rect">
            <a:avLst/>
          </a:prstGeom>
          <a:noFill/>
          <a:ln/>
        </p:spPr>
        <p:txBody>
          <a:bodyPr wrap="square" lIns="0" tIns="0" rIns="0" bIns="0" rtlCol="0" anchor="ctr"/>
          <a:lstStyle/>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Atrial septal defect (ASD)</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Ventricular septal defect (VSD)</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Patent ductus arteriosus (PDA)</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Coarctation of the aorta</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Aortic stenosis</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Congenital pulmonary valve regurgitation</a:t>
            </a:r>
            <a:endParaRPr lang="en-US" sz="1400" dirty="0"/>
          </a:p>
          <a:p>
            <a:pPr marL="342900" indent="-342900">
              <a:spcAft>
                <a:spcPts val="500"/>
              </a:spcAft>
              <a:buSzPct val="100000"/>
              <a:buChar char="•"/>
            </a:pPr>
            <a:r>
              <a:rPr lang="en-US" sz="1400" dirty="0">
                <a:solidFill>
                  <a:srgbClr val="231F20"/>
                </a:solidFill>
                <a:latin typeface="Calibri" pitchFamily="34" charset="0"/>
                <a:ea typeface="Calibri" pitchFamily="34" charset="-122"/>
                <a:cs typeface="Calibri" pitchFamily="34" charset="-120"/>
              </a:rPr>
              <a:t>Pulmonary stenosis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CYANOTIC VS ACYANOTIC</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Distinguishing features at the bedside</a:t>
            </a:r>
            <a:endParaRPr lang="en-US" sz="3200" dirty="0"/>
          </a:p>
        </p:txBody>
      </p:sp>
      <p:sp>
        <p:nvSpPr>
          <p:cNvPr id="4" name="Shape 2"/>
          <p:cNvSpPr/>
          <p:nvPr/>
        </p:nvSpPr>
        <p:spPr>
          <a:xfrm>
            <a:off x="548640" y="1463040"/>
            <a:ext cx="11064240" cy="457200"/>
          </a:xfrm>
          <a:prstGeom prst="roundRect">
            <a:avLst>
              <a:gd name="adj" fmla="val 14000"/>
            </a:avLst>
          </a:prstGeom>
          <a:solidFill>
            <a:srgbClr val="2F3C7E"/>
          </a:solidFill>
          <a:ln/>
        </p:spPr>
      </p:sp>
      <p:sp>
        <p:nvSpPr>
          <p:cNvPr id="5" name="Text 3"/>
          <p:cNvSpPr txBox="1"/>
          <p:nvPr/>
        </p:nvSpPr>
        <p:spPr>
          <a:xfrm>
            <a:off x="777240" y="1463040"/>
            <a:ext cx="23774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Feature</a:t>
            </a:r>
            <a:endParaRPr lang="en-US" sz="1350" dirty="0"/>
          </a:p>
        </p:txBody>
      </p:sp>
      <p:sp>
        <p:nvSpPr>
          <p:cNvPr id="6" name="Text 4"/>
          <p:cNvSpPr txBox="1"/>
          <p:nvPr/>
        </p:nvSpPr>
        <p:spPr>
          <a:xfrm>
            <a:off x="3291840" y="1463040"/>
            <a:ext cx="402336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Cyanotic congenital heart disease</a:t>
            </a:r>
            <a:endParaRPr lang="en-US" sz="1350" dirty="0"/>
          </a:p>
        </p:txBody>
      </p:sp>
      <p:sp>
        <p:nvSpPr>
          <p:cNvPr id="7" name="Text 5"/>
          <p:cNvSpPr txBox="1"/>
          <p:nvPr/>
        </p:nvSpPr>
        <p:spPr>
          <a:xfrm>
            <a:off x="7498080" y="1463040"/>
            <a:ext cx="393192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Acyanotic congenital heart disease</a:t>
            </a:r>
            <a:endParaRPr lang="en-US" sz="1350" dirty="0"/>
          </a:p>
        </p:txBody>
      </p:sp>
      <p:sp>
        <p:nvSpPr>
          <p:cNvPr id="8" name="Shape 6"/>
          <p:cNvSpPr/>
          <p:nvPr/>
        </p:nvSpPr>
        <p:spPr>
          <a:xfrm>
            <a:off x="548640" y="2011680"/>
            <a:ext cx="11064240" cy="566928"/>
          </a:xfrm>
          <a:prstGeom prst="rect">
            <a:avLst/>
          </a:prstGeom>
          <a:solidFill>
            <a:srgbClr val="FCF6F5"/>
          </a:solidFill>
          <a:ln/>
        </p:spPr>
      </p:sp>
      <p:sp>
        <p:nvSpPr>
          <p:cNvPr id="9" name="Text 7"/>
          <p:cNvSpPr txBox="1"/>
          <p:nvPr/>
        </p:nvSpPr>
        <p:spPr>
          <a:xfrm>
            <a:off x="777240" y="2011680"/>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Direction of flow</a:t>
            </a:r>
            <a:endParaRPr lang="en-US" sz="1250" dirty="0"/>
          </a:p>
        </p:txBody>
      </p:sp>
      <p:sp>
        <p:nvSpPr>
          <p:cNvPr id="10" name="Text 8"/>
          <p:cNvSpPr txBox="1"/>
          <p:nvPr/>
        </p:nvSpPr>
        <p:spPr>
          <a:xfrm>
            <a:off x="3291840" y="2011680"/>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Right to left shunting, or mixing of systemic and pulmonary blood flow</a:t>
            </a:r>
            <a:endParaRPr lang="en-US" sz="1200" dirty="0"/>
          </a:p>
        </p:txBody>
      </p:sp>
      <p:sp>
        <p:nvSpPr>
          <p:cNvPr id="11" name="Text 9"/>
          <p:cNvSpPr txBox="1"/>
          <p:nvPr/>
        </p:nvSpPr>
        <p:spPr>
          <a:xfrm>
            <a:off x="7498080" y="2011680"/>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Left to right shunt, or an obstruction to outflow</a:t>
            </a:r>
            <a:endParaRPr lang="en-US" sz="1200" dirty="0"/>
          </a:p>
        </p:txBody>
      </p:sp>
      <p:sp>
        <p:nvSpPr>
          <p:cNvPr id="12" name="Text 10"/>
          <p:cNvSpPr txBox="1"/>
          <p:nvPr/>
        </p:nvSpPr>
        <p:spPr>
          <a:xfrm>
            <a:off x="777240" y="2578608"/>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Cyanosis</a:t>
            </a:r>
            <a:endParaRPr lang="en-US" sz="1250" dirty="0"/>
          </a:p>
        </p:txBody>
      </p:sp>
      <p:sp>
        <p:nvSpPr>
          <p:cNvPr id="13" name="Text 11"/>
          <p:cNvSpPr txBox="1"/>
          <p:nvPr/>
        </p:nvSpPr>
        <p:spPr>
          <a:xfrm>
            <a:off x="3291840" y="2578608"/>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Central cyanosis is present</a:t>
            </a:r>
            <a:endParaRPr lang="en-US" sz="1200" dirty="0"/>
          </a:p>
        </p:txBody>
      </p:sp>
      <p:sp>
        <p:nvSpPr>
          <p:cNvPr id="14" name="Text 12"/>
          <p:cNvSpPr txBox="1"/>
          <p:nvPr/>
        </p:nvSpPr>
        <p:spPr>
          <a:xfrm>
            <a:off x="7498080" y="2578608"/>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Absent, until the shunt reverses</a:t>
            </a:r>
            <a:endParaRPr lang="en-US" sz="1200" dirty="0"/>
          </a:p>
        </p:txBody>
      </p:sp>
      <p:sp>
        <p:nvSpPr>
          <p:cNvPr id="15" name="Shape 13"/>
          <p:cNvSpPr/>
          <p:nvPr/>
        </p:nvSpPr>
        <p:spPr>
          <a:xfrm>
            <a:off x="548640" y="3145536"/>
            <a:ext cx="11064240" cy="566928"/>
          </a:xfrm>
          <a:prstGeom prst="rect">
            <a:avLst/>
          </a:prstGeom>
          <a:solidFill>
            <a:srgbClr val="FCF6F5"/>
          </a:solidFill>
          <a:ln/>
        </p:spPr>
      </p:sp>
      <p:sp>
        <p:nvSpPr>
          <p:cNvPr id="16" name="Text 14"/>
          <p:cNvSpPr txBox="1"/>
          <p:nvPr/>
        </p:nvSpPr>
        <p:spPr>
          <a:xfrm>
            <a:off x="777240" y="3145536"/>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Clubbing</a:t>
            </a:r>
            <a:endParaRPr lang="en-US" sz="1250" dirty="0"/>
          </a:p>
        </p:txBody>
      </p:sp>
      <p:sp>
        <p:nvSpPr>
          <p:cNvPr id="17" name="Text 15"/>
          <p:cNvSpPr txBox="1"/>
          <p:nvPr/>
        </p:nvSpPr>
        <p:spPr>
          <a:xfrm>
            <a:off x="3291840" y="3145536"/>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Occurs due to prolonged cyanosis</a:t>
            </a:r>
            <a:endParaRPr lang="en-US" sz="1200" dirty="0"/>
          </a:p>
        </p:txBody>
      </p:sp>
      <p:sp>
        <p:nvSpPr>
          <p:cNvPr id="18" name="Text 16"/>
          <p:cNvSpPr txBox="1"/>
          <p:nvPr/>
        </p:nvSpPr>
        <p:spPr>
          <a:xfrm>
            <a:off x="7498080" y="3145536"/>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Not a feature</a:t>
            </a:r>
            <a:endParaRPr lang="en-US" sz="1200" dirty="0"/>
          </a:p>
        </p:txBody>
      </p:sp>
      <p:sp>
        <p:nvSpPr>
          <p:cNvPr id="19" name="Text 17"/>
          <p:cNvSpPr txBox="1"/>
          <p:nvPr/>
        </p:nvSpPr>
        <p:spPr>
          <a:xfrm>
            <a:off x="777240" y="3712464"/>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Polycythemia</a:t>
            </a:r>
            <a:endParaRPr lang="en-US" sz="1250" dirty="0"/>
          </a:p>
        </p:txBody>
      </p:sp>
      <p:sp>
        <p:nvSpPr>
          <p:cNvPr id="20" name="Text 18"/>
          <p:cNvSpPr txBox="1"/>
          <p:nvPr/>
        </p:nvSpPr>
        <p:spPr>
          <a:xfrm>
            <a:off x="3291840" y="3712464"/>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Develops secondary to chronic hypoxemia, causing hyperviscosity</a:t>
            </a:r>
            <a:endParaRPr lang="en-US" sz="1200" dirty="0"/>
          </a:p>
        </p:txBody>
      </p:sp>
      <p:sp>
        <p:nvSpPr>
          <p:cNvPr id="21" name="Text 19"/>
          <p:cNvSpPr txBox="1"/>
          <p:nvPr/>
        </p:nvSpPr>
        <p:spPr>
          <a:xfrm>
            <a:off x="7498080" y="3712464"/>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Not expected</a:t>
            </a:r>
            <a:endParaRPr lang="en-US" sz="1200" dirty="0"/>
          </a:p>
        </p:txBody>
      </p:sp>
      <p:sp>
        <p:nvSpPr>
          <p:cNvPr id="22" name="Shape 20"/>
          <p:cNvSpPr/>
          <p:nvPr/>
        </p:nvSpPr>
        <p:spPr>
          <a:xfrm>
            <a:off x="548640" y="4279392"/>
            <a:ext cx="11064240" cy="566928"/>
          </a:xfrm>
          <a:prstGeom prst="rect">
            <a:avLst/>
          </a:prstGeom>
          <a:solidFill>
            <a:srgbClr val="FCF6F5"/>
          </a:solidFill>
          <a:ln/>
        </p:spPr>
      </p:sp>
      <p:sp>
        <p:nvSpPr>
          <p:cNvPr id="23" name="Text 21"/>
          <p:cNvSpPr txBox="1"/>
          <p:nvPr/>
        </p:nvSpPr>
        <p:spPr>
          <a:xfrm>
            <a:off x="777240" y="4279392"/>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Growth</a:t>
            </a:r>
            <a:endParaRPr lang="en-US" sz="1250" dirty="0"/>
          </a:p>
        </p:txBody>
      </p:sp>
      <p:sp>
        <p:nvSpPr>
          <p:cNvPr id="24" name="Text 22"/>
          <p:cNvSpPr txBox="1"/>
          <p:nvPr/>
        </p:nvSpPr>
        <p:spPr>
          <a:xfrm>
            <a:off x="3291840" y="4279392"/>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Growth retardation is common in children</a:t>
            </a:r>
            <a:endParaRPr lang="en-US" sz="1200" dirty="0"/>
          </a:p>
        </p:txBody>
      </p:sp>
      <p:sp>
        <p:nvSpPr>
          <p:cNvPr id="25" name="Text 23"/>
          <p:cNvSpPr txBox="1"/>
          <p:nvPr/>
        </p:nvSpPr>
        <p:spPr>
          <a:xfrm>
            <a:off x="7498080" y="4279392"/>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Growth usually preserved</a:t>
            </a:r>
            <a:endParaRPr lang="en-US" sz="1200" dirty="0"/>
          </a:p>
        </p:txBody>
      </p:sp>
      <p:sp>
        <p:nvSpPr>
          <p:cNvPr id="26" name="Text 24"/>
          <p:cNvSpPr txBox="1"/>
          <p:nvPr/>
        </p:nvSpPr>
        <p:spPr>
          <a:xfrm>
            <a:off x="777240" y="4846320"/>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Pulmonary circulation</a:t>
            </a:r>
            <a:endParaRPr lang="en-US" sz="1250" dirty="0"/>
          </a:p>
        </p:txBody>
      </p:sp>
      <p:sp>
        <p:nvSpPr>
          <p:cNvPr id="27" name="Text 25"/>
          <p:cNvSpPr txBox="1"/>
          <p:nvPr/>
        </p:nvSpPr>
        <p:spPr>
          <a:xfrm>
            <a:off x="3291840" y="4846320"/>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Pulmonary blood flow is typically reduced</a:t>
            </a:r>
            <a:endParaRPr lang="en-US" sz="1200" dirty="0"/>
          </a:p>
        </p:txBody>
      </p:sp>
      <p:sp>
        <p:nvSpPr>
          <p:cNvPr id="28" name="Text 26"/>
          <p:cNvSpPr txBox="1"/>
          <p:nvPr/>
        </p:nvSpPr>
        <p:spPr>
          <a:xfrm>
            <a:off x="7498080" y="4846320"/>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Pulmonary hypertension develops from the high pressure left to right flow</a:t>
            </a:r>
            <a:endParaRPr lang="en-US" sz="1200" dirty="0"/>
          </a:p>
        </p:txBody>
      </p:sp>
      <p:sp>
        <p:nvSpPr>
          <p:cNvPr id="29" name="Shape 27"/>
          <p:cNvSpPr/>
          <p:nvPr/>
        </p:nvSpPr>
        <p:spPr>
          <a:xfrm>
            <a:off x="548640" y="5413248"/>
            <a:ext cx="11064240" cy="566928"/>
          </a:xfrm>
          <a:prstGeom prst="rect">
            <a:avLst/>
          </a:prstGeom>
          <a:solidFill>
            <a:srgbClr val="FCF6F5"/>
          </a:solidFill>
          <a:ln/>
        </p:spPr>
      </p:sp>
      <p:sp>
        <p:nvSpPr>
          <p:cNvPr id="30" name="Text 28"/>
          <p:cNvSpPr txBox="1"/>
          <p:nvPr/>
        </p:nvSpPr>
        <p:spPr>
          <a:xfrm>
            <a:off x="777240" y="5413248"/>
            <a:ext cx="2377440"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Classic examples</a:t>
            </a:r>
            <a:endParaRPr lang="en-US" sz="1250" dirty="0"/>
          </a:p>
        </p:txBody>
      </p:sp>
      <p:sp>
        <p:nvSpPr>
          <p:cNvPr id="31" name="Text 29"/>
          <p:cNvSpPr txBox="1"/>
          <p:nvPr/>
        </p:nvSpPr>
        <p:spPr>
          <a:xfrm>
            <a:off x="3291840" y="5413248"/>
            <a:ext cx="402336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Tetralogy of Fallot, TGA, tricuspid atresia, truncus arteriosus, TAPVC</a:t>
            </a:r>
            <a:endParaRPr lang="en-US" sz="1200" dirty="0"/>
          </a:p>
        </p:txBody>
      </p:sp>
      <p:sp>
        <p:nvSpPr>
          <p:cNvPr id="32" name="Text 30"/>
          <p:cNvSpPr txBox="1"/>
          <p:nvPr/>
        </p:nvSpPr>
        <p:spPr>
          <a:xfrm>
            <a:off x="7498080" y="5413248"/>
            <a:ext cx="3931920" cy="566928"/>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ASD, VSD, PDA, coarctation, aortic and pulmonary stenosis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144000" cy="256032"/>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EXAMINATION</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2F3C7E"/>
                </a:solidFill>
                <a:latin typeface="Bookman Old Style" pitchFamily="34" charset="0"/>
                <a:ea typeface="Bookman Old Style" pitchFamily="34" charset="-122"/>
                <a:cs typeface="Bookman Old Style" pitchFamily="34" charset="-120"/>
              </a:rPr>
              <a:t>General clinical features to look for</a:t>
            </a:r>
            <a:endParaRPr lang="en-US" sz="3200" dirty="0"/>
          </a:p>
        </p:txBody>
      </p:sp>
      <p:sp>
        <p:nvSpPr>
          <p:cNvPr id="4" name="Shape 2"/>
          <p:cNvSpPr/>
          <p:nvPr/>
        </p:nvSpPr>
        <p:spPr>
          <a:xfrm>
            <a:off x="548640" y="1508760"/>
            <a:ext cx="5394960" cy="2148840"/>
          </a:xfrm>
          <a:prstGeom prst="roundRect">
            <a:avLst>
              <a:gd name="adj" fmla="val 3830"/>
            </a:avLst>
          </a:prstGeom>
          <a:solidFill>
            <a:srgbClr val="F6E4E6"/>
          </a:solidFill>
          <a:ln/>
          <a:effectLst>
            <a:outerShdw sx="100000" sy="100000" kx="0" ky="0" algn="bl" rotWithShape="0" blurRad="101600" dist="12700" dir="5400000">
              <a:srgbClr val="9A8A8A">
                <a:alpha val="20000"/>
              </a:srgbClr>
            </a:outerShdw>
          </a:effectLst>
        </p:spPr>
      </p:sp>
      <p:sp>
        <p:nvSpPr>
          <p:cNvPr id="5" name="Text 3"/>
          <p:cNvSpPr txBox="1"/>
          <p:nvPr/>
        </p:nvSpPr>
        <p:spPr>
          <a:xfrm>
            <a:off x="868680" y="1691640"/>
            <a:ext cx="4754880" cy="320040"/>
          </a:xfrm>
          <a:prstGeom prst="rect">
            <a:avLst/>
          </a:prstGeom>
          <a:noFill/>
          <a:ln/>
        </p:spPr>
        <p:txBody>
          <a:bodyPr wrap="square" lIns="0" tIns="0" rIns="0" bIns="0" rtlCol="0" anchor="ctr"/>
          <a:lstStyle/>
          <a:p>
            <a:pPr indent="0" marL="0">
              <a:buNone/>
            </a:pPr>
            <a:r>
              <a:rPr lang="en-US" sz="1700" b="1" dirty="0">
                <a:solidFill>
                  <a:srgbClr val="990011"/>
                </a:solidFill>
                <a:latin typeface="Bookman Old Style" pitchFamily="34" charset="0"/>
                <a:ea typeface="Bookman Old Style" pitchFamily="34" charset="-122"/>
                <a:cs typeface="Bookman Old Style" pitchFamily="34" charset="-120"/>
              </a:rPr>
              <a:t>Congestive heart failure</a:t>
            </a:r>
            <a:endParaRPr lang="en-US" sz="1700" dirty="0"/>
          </a:p>
        </p:txBody>
      </p:sp>
      <p:sp>
        <p:nvSpPr>
          <p:cNvPr id="6" name="Text 4"/>
          <p:cNvSpPr txBox="1"/>
          <p:nvPr/>
        </p:nvSpPr>
        <p:spPr>
          <a:xfrm>
            <a:off x="868680" y="2057400"/>
            <a:ext cx="4800600" cy="1508760"/>
          </a:xfrm>
          <a:prstGeom prst="rect">
            <a:avLst/>
          </a:prstGeom>
          <a:noFill/>
          <a:ln/>
        </p:spPr>
        <p:txBody>
          <a:bodyPr wrap="square" lIns="0" tIns="0" rIns="0" bIns="0" rtlCol="0" anchor="ctr"/>
          <a:lstStyle/>
          <a:p>
            <a:pPr indent="0" marL="0">
              <a:buNone/>
            </a:pPr>
            <a:r>
              <a:rPr lang="en-US" sz="1250" dirty="0">
                <a:solidFill>
                  <a:srgbClr val="231F20"/>
                </a:solidFill>
                <a:latin typeface="Calibri" pitchFamily="34" charset="0"/>
                <a:ea typeface="Calibri" pitchFamily="34" charset="-122"/>
                <a:cs typeface="Calibri" pitchFamily="34" charset="-120"/>
              </a:rPr>
              <a:t>In as many as 80% of infants with critical disease, congestive heart failure is the presenting symptom. Difficulty in feeding is common, often with tachypnea, sweating and subcostal retraction. Suspect CHD if feeding takes more than 30 minutes. On examination look for an S3 gallop and crepitations in the lungs.</a:t>
            </a:r>
            <a:endParaRPr lang="en-US" sz="1250" dirty="0"/>
          </a:p>
        </p:txBody>
      </p:sp>
      <p:sp>
        <p:nvSpPr>
          <p:cNvPr id="7" name="Shape 5"/>
          <p:cNvSpPr/>
          <p:nvPr/>
        </p:nvSpPr>
        <p:spPr>
          <a:xfrm>
            <a:off x="6217920" y="1508760"/>
            <a:ext cx="5394960" cy="2148840"/>
          </a:xfrm>
          <a:prstGeom prst="roundRect">
            <a:avLst>
              <a:gd name="adj" fmla="val 3830"/>
            </a:avLst>
          </a:prstGeom>
          <a:solidFill>
            <a:srgbClr val="FCF6F5"/>
          </a:solidFill>
          <a:ln/>
          <a:effectLst>
            <a:outerShdw sx="100000" sy="100000" kx="0" ky="0" algn="bl" rotWithShape="0" blurRad="101600" dist="12700" dir="5400000">
              <a:srgbClr val="9A8A8A">
                <a:alpha val="20000"/>
              </a:srgbClr>
            </a:outerShdw>
          </a:effectLst>
        </p:spPr>
      </p:sp>
      <p:sp>
        <p:nvSpPr>
          <p:cNvPr id="8" name="Text 6"/>
          <p:cNvSpPr txBox="1"/>
          <p:nvPr/>
        </p:nvSpPr>
        <p:spPr>
          <a:xfrm>
            <a:off x="6537960" y="1691640"/>
            <a:ext cx="4754880" cy="320040"/>
          </a:xfrm>
          <a:prstGeom prst="rect">
            <a:avLst/>
          </a:prstGeom>
          <a:noFill/>
          <a:ln/>
        </p:spPr>
        <p:txBody>
          <a:bodyPr wrap="square" lIns="0" tIns="0" rIns="0" bIns="0" rtlCol="0" anchor="ctr"/>
          <a:lstStyle/>
          <a:p>
            <a:pPr indent="0" marL="0">
              <a:buNone/>
            </a:pPr>
            <a:r>
              <a:rPr lang="en-US" sz="1700" b="1" dirty="0">
                <a:solidFill>
                  <a:srgbClr val="990011"/>
                </a:solidFill>
                <a:latin typeface="Bookman Old Style" pitchFamily="34" charset="0"/>
                <a:ea typeface="Bookman Old Style" pitchFamily="34" charset="-122"/>
                <a:cs typeface="Bookman Old Style" pitchFamily="34" charset="-120"/>
              </a:rPr>
              <a:t>Syncope</a:t>
            </a:r>
            <a:endParaRPr lang="en-US" sz="1700" dirty="0"/>
          </a:p>
        </p:txBody>
      </p:sp>
      <p:sp>
        <p:nvSpPr>
          <p:cNvPr id="9" name="Text 7"/>
          <p:cNvSpPr txBox="1"/>
          <p:nvPr/>
        </p:nvSpPr>
        <p:spPr>
          <a:xfrm>
            <a:off x="6537960" y="2057400"/>
            <a:ext cx="4800600" cy="1508760"/>
          </a:xfrm>
          <a:prstGeom prst="rect">
            <a:avLst/>
          </a:prstGeom>
          <a:noFill/>
          <a:ln/>
        </p:spPr>
        <p:txBody>
          <a:bodyPr wrap="square" lIns="0" tIns="0" rIns="0" bIns="0" rtlCol="0" anchor="ctr"/>
          <a:lstStyle/>
          <a:p>
            <a:pPr indent="0" marL="0">
              <a:buNone/>
            </a:pPr>
            <a:r>
              <a:rPr lang="en-US" sz="1250" dirty="0">
                <a:solidFill>
                  <a:srgbClr val="231F20"/>
                </a:solidFill>
                <a:latin typeface="Calibri" pitchFamily="34" charset="0"/>
                <a:ea typeface="Calibri" pitchFamily="34" charset="-122"/>
                <a:cs typeface="Calibri" pitchFamily="34" charset="-120"/>
              </a:rPr>
              <a:t>Common when severe right or left ventricular outflow tract obstruction is present. Exertional syncope with deepening central cyanosis may occur in Fallot's tetralogy, because exercise increases pulmonary vascular resistance and decreases systemic vascular resistance, so the right to left shunt increases and cerebral oxygenation falls.</a:t>
            </a:r>
            <a:endParaRPr lang="en-US" sz="1250" dirty="0"/>
          </a:p>
        </p:txBody>
      </p:sp>
      <p:sp>
        <p:nvSpPr>
          <p:cNvPr id="10" name="Shape 8"/>
          <p:cNvSpPr/>
          <p:nvPr/>
        </p:nvSpPr>
        <p:spPr>
          <a:xfrm>
            <a:off x="548640" y="3840480"/>
            <a:ext cx="11064240" cy="1920240"/>
          </a:xfrm>
          <a:prstGeom prst="roundRect">
            <a:avLst>
              <a:gd name="adj" fmla="val 4286"/>
            </a:avLst>
          </a:prstGeom>
          <a:solidFill>
            <a:srgbClr val="2F3C7E"/>
          </a:solidFill>
          <a:ln/>
          <a:effectLst>
            <a:outerShdw sx="100000" sy="100000" kx="0" ky="0" algn="bl" rotWithShape="0" blurRad="101600" dist="12700" dir="5400000">
              <a:srgbClr val="9A8A8A">
                <a:alpha val="20000"/>
              </a:srgbClr>
            </a:outerShdw>
          </a:effectLst>
        </p:spPr>
      </p:sp>
      <p:sp>
        <p:nvSpPr>
          <p:cNvPr id="11" name="Text 9"/>
          <p:cNvSpPr txBox="1"/>
          <p:nvPr/>
        </p:nvSpPr>
        <p:spPr>
          <a:xfrm>
            <a:off x="868680" y="4023360"/>
            <a:ext cx="5486400" cy="32004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Squatting in Fallot's tetralogy</a:t>
            </a:r>
            <a:endParaRPr lang="en-US" sz="1700" dirty="0"/>
          </a:p>
        </p:txBody>
      </p:sp>
      <p:sp>
        <p:nvSpPr>
          <p:cNvPr id="12" name="Shape 10"/>
          <p:cNvSpPr/>
          <p:nvPr/>
        </p:nvSpPr>
        <p:spPr>
          <a:xfrm>
            <a:off x="868680" y="4434840"/>
            <a:ext cx="2331720" cy="1051560"/>
          </a:xfrm>
          <a:prstGeom prst="roundRect">
            <a:avLst>
              <a:gd name="adj" fmla="val 6957"/>
            </a:avLst>
          </a:prstGeom>
          <a:solidFill>
            <a:srgbClr val="FFFFFF"/>
          </a:solidFill>
          <a:ln/>
        </p:spPr>
      </p:sp>
      <p:sp>
        <p:nvSpPr>
          <p:cNvPr id="13" name="Text 11"/>
          <p:cNvSpPr txBox="1"/>
          <p:nvPr/>
        </p:nvSpPr>
        <p:spPr>
          <a:xfrm>
            <a:off x="1033272" y="4526280"/>
            <a:ext cx="2011680" cy="86868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Squatting posture is adopted by the child</a:t>
            </a:r>
            <a:endParaRPr lang="en-US" sz="1150" dirty="0"/>
          </a:p>
        </p:txBody>
      </p:sp>
      <p:sp>
        <p:nvSpPr>
          <p:cNvPr id="14" name="Shape 12"/>
          <p:cNvSpPr/>
          <p:nvPr/>
        </p:nvSpPr>
        <p:spPr>
          <a:xfrm>
            <a:off x="3273552" y="4828032"/>
            <a:ext cx="292608" cy="274320"/>
          </a:xfrm>
          <a:prstGeom prst="rightArrow">
            <a:avLst/>
          </a:prstGeom>
          <a:solidFill>
            <a:srgbClr val="E7B9BE"/>
          </a:solidFill>
          <a:ln/>
        </p:spPr>
      </p:sp>
      <p:sp>
        <p:nvSpPr>
          <p:cNvPr id="15" name="Shape 13"/>
          <p:cNvSpPr/>
          <p:nvPr/>
        </p:nvSpPr>
        <p:spPr>
          <a:xfrm>
            <a:off x="3566160" y="4434840"/>
            <a:ext cx="2331720" cy="1051560"/>
          </a:xfrm>
          <a:prstGeom prst="roundRect">
            <a:avLst>
              <a:gd name="adj" fmla="val 6957"/>
            </a:avLst>
          </a:prstGeom>
          <a:solidFill>
            <a:srgbClr val="FFFFFF"/>
          </a:solidFill>
          <a:ln/>
        </p:spPr>
      </p:sp>
      <p:sp>
        <p:nvSpPr>
          <p:cNvPr id="16" name="Text 14"/>
          <p:cNvSpPr txBox="1"/>
          <p:nvPr/>
        </p:nvSpPr>
        <p:spPr>
          <a:xfrm>
            <a:off x="3730752" y="4526280"/>
            <a:ext cx="2011680" cy="86868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Venous return decreases, peripheral vascular resistance increases</a:t>
            </a:r>
            <a:endParaRPr lang="en-US" sz="1150" dirty="0"/>
          </a:p>
        </p:txBody>
      </p:sp>
      <p:sp>
        <p:nvSpPr>
          <p:cNvPr id="17" name="Shape 15"/>
          <p:cNvSpPr/>
          <p:nvPr/>
        </p:nvSpPr>
        <p:spPr>
          <a:xfrm>
            <a:off x="5971032" y="4828032"/>
            <a:ext cx="292608" cy="274320"/>
          </a:xfrm>
          <a:prstGeom prst="rightArrow">
            <a:avLst/>
          </a:prstGeom>
          <a:solidFill>
            <a:srgbClr val="E7B9BE"/>
          </a:solidFill>
          <a:ln/>
        </p:spPr>
      </p:sp>
      <p:sp>
        <p:nvSpPr>
          <p:cNvPr id="18" name="Shape 16"/>
          <p:cNvSpPr/>
          <p:nvPr/>
        </p:nvSpPr>
        <p:spPr>
          <a:xfrm>
            <a:off x="6263640" y="4434840"/>
            <a:ext cx="2331720" cy="1051560"/>
          </a:xfrm>
          <a:prstGeom prst="roundRect">
            <a:avLst>
              <a:gd name="adj" fmla="val 6957"/>
            </a:avLst>
          </a:prstGeom>
          <a:solidFill>
            <a:srgbClr val="FFFFFF"/>
          </a:solidFill>
          <a:ln/>
        </p:spPr>
      </p:sp>
      <p:sp>
        <p:nvSpPr>
          <p:cNvPr id="19" name="Text 17"/>
          <p:cNvSpPr txBox="1"/>
          <p:nvPr/>
        </p:nvSpPr>
        <p:spPr>
          <a:xfrm>
            <a:off x="6428232" y="4526280"/>
            <a:ext cx="2011680" cy="86868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Right sided pressure falls, left sided pressure rises</a:t>
            </a:r>
            <a:endParaRPr lang="en-US" sz="1150" dirty="0"/>
          </a:p>
        </p:txBody>
      </p:sp>
      <p:sp>
        <p:nvSpPr>
          <p:cNvPr id="20" name="Shape 18"/>
          <p:cNvSpPr/>
          <p:nvPr/>
        </p:nvSpPr>
        <p:spPr>
          <a:xfrm>
            <a:off x="8668512" y="4828032"/>
            <a:ext cx="292608" cy="274320"/>
          </a:xfrm>
          <a:prstGeom prst="rightArrow">
            <a:avLst/>
          </a:prstGeom>
          <a:solidFill>
            <a:srgbClr val="E7B9BE"/>
          </a:solidFill>
          <a:ln/>
        </p:spPr>
      </p:sp>
      <p:sp>
        <p:nvSpPr>
          <p:cNvPr id="21" name="Shape 19"/>
          <p:cNvSpPr/>
          <p:nvPr/>
        </p:nvSpPr>
        <p:spPr>
          <a:xfrm>
            <a:off x="8961120" y="4434840"/>
            <a:ext cx="2331720" cy="1051560"/>
          </a:xfrm>
          <a:prstGeom prst="roundRect">
            <a:avLst>
              <a:gd name="adj" fmla="val 6957"/>
            </a:avLst>
          </a:prstGeom>
          <a:solidFill>
            <a:srgbClr val="FFFFFF"/>
          </a:solidFill>
          <a:ln/>
        </p:spPr>
      </p:sp>
      <p:sp>
        <p:nvSpPr>
          <p:cNvPr id="22" name="Text 20"/>
          <p:cNvSpPr txBox="1"/>
          <p:nvPr/>
        </p:nvSpPr>
        <p:spPr>
          <a:xfrm>
            <a:off x="9125712" y="4526280"/>
            <a:ext cx="2011680" cy="86868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Right to left shunt is reduced and cerebral oxygenation improves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990011"/>
          </a:solidFill>
          <a:ln/>
        </p:spPr>
      </p:sp>
      <p:sp>
        <p:nvSpPr>
          <p:cNvPr id="3" name="Text 1"/>
          <p:cNvSpPr txBox="1"/>
          <p:nvPr/>
        </p:nvSpPr>
        <p:spPr>
          <a:xfrm>
            <a:off x="640080" y="548640"/>
            <a:ext cx="5486400" cy="274320"/>
          </a:xfrm>
          <a:prstGeom prst="rect">
            <a:avLst/>
          </a:prstGeom>
          <a:noFill/>
          <a:ln/>
        </p:spPr>
        <p:txBody>
          <a:bodyPr wrap="square" lIns="0" tIns="0" rIns="0" bIns="0" rtlCol="0" anchor="ctr"/>
          <a:lstStyle/>
          <a:p>
            <a:pPr indent="0" marL="0">
              <a:buNone/>
            </a:pPr>
            <a:r>
              <a:rPr lang="en-US" sz="1200" b="1" spc="200" kern="0" dirty="0">
                <a:solidFill>
                  <a:srgbClr val="E7B9BE"/>
                </a:solidFill>
                <a:latin typeface="Calibri" pitchFamily="34" charset="0"/>
                <a:ea typeface="Calibri" pitchFamily="34" charset="-122"/>
                <a:cs typeface="Calibri" pitchFamily="34" charset="-120"/>
              </a:rPr>
              <a:t>TAKE HOME</a:t>
            </a:r>
            <a:endParaRPr lang="en-US" sz="1200" dirty="0"/>
          </a:p>
        </p:txBody>
      </p:sp>
      <p:sp>
        <p:nvSpPr>
          <p:cNvPr id="4" name="Text 2"/>
          <p:cNvSpPr txBox="1"/>
          <p:nvPr/>
        </p:nvSpPr>
        <p:spPr>
          <a:xfrm>
            <a:off x="640080" y="86868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What to carry away</a:t>
            </a:r>
            <a:endParaRPr lang="en-US" sz="3200" dirty="0"/>
          </a:p>
        </p:txBody>
      </p:sp>
      <p:sp>
        <p:nvSpPr>
          <p:cNvPr id="5" name="Shape 3"/>
          <p:cNvSpPr/>
          <p:nvPr/>
        </p:nvSpPr>
        <p:spPr>
          <a:xfrm>
            <a:off x="640080" y="1691640"/>
            <a:ext cx="10881360" cy="1005840"/>
          </a:xfrm>
          <a:prstGeom prst="roundRect">
            <a:avLst>
              <a:gd name="adj" fmla="val 7273"/>
            </a:avLst>
          </a:prstGeom>
          <a:solidFill>
            <a:srgbClr val="FFFFFF"/>
          </a:solidFill>
          <a:ln/>
        </p:spPr>
      </p:sp>
      <p:sp>
        <p:nvSpPr>
          <p:cNvPr id="6" name="Shape 4"/>
          <p:cNvSpPr/>
          <p:nvPr/>
        </p:nvSpPr>
        <p:spPr>
          <a:xfrm>
            <a:off x="914400" y="2039112"/>
            <a:ext cx="310896" cy="310896"/>
          </a:xfrm>
          <a:prstGeom prst="ellipse">
            <a:avLst/>
          </a:prstGeom>
          <a:solidFill>
            <a:srgbClr val="990011"/>
          </a:solidFill>
          <a:ln/>
        </p:spPr>
      </p:sp>
      <p:sp>
        <p:nvSpPr>
          <p:cNvPr id="7" name="Text 5"/>
          <p:cNvSpPr txBox="1"/>
          <p:nvPr/>
        </p:nvSpPr>
        <p:spPr>
          <a:xfrm>
            <a:off x="914400" y="20391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37944"/>
            <a:ext cx="3291840" cy="73152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Adults present through complications</a:t>
            </a:r>
            <a:endParaRPr lang="en-US" sz="1400" dirty="0"/>
          </a:p>
        </p:txBody>
      </p:sp>
      <p:sp>
        <p:nvSpPr>
          <p:cNvPr id="9" name="Text 7"/>
          <p:cNvSpPr txBox="1"/>
          <p:nvPr/>
        </p:nvSpPr>
        <p:spPr>
          <a:xfrm>
            <a:off x="4846320" y="1837944"/>
            <a:ext cx="6400800" cy="73152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Endocarditis, arrhythmias, right heart failure from pulmonary hypertension, end stage heart failure and sudden cardiac death may all be the first sign of congenital heart disease.</a:t>
            </a:r>
            <a:endParaRPr lang="en-US" sz="1200" dirty="0"/>
          </a:p>
        </p:txBody>
      </p:sp>
      <p:sp>
        <p:nvSpPr>
          <p:cNvPr id="10" name="Shape 8"/>
          <p:cNvSpPr/>
          <p:nvPr/>
        </p:nvSpPr>
        <p:spPr>
          <a:xfrm>
            <a:off x="640080" y="2807208"/>
            <a:ext cx="10881360" cy="1005840"/>
          </a:xfrm>
          <a:prstGeom prst="roundRect">
            <a:avLst>
              <a:gd name="adj" fmla="val 7273"/>
            </a:avLst>
          </a:prstGeom>
          <a:solidFill>
            <a:srgbClr val="FFFFFF"/>
          </a:solidFill>
          <a:ln/>
        </p:spPr>
      </p:sp>
      <p:sp>
        <p:nvSpPr>
          <p:cNvPr id="11" name="Shape 9"/>
          <p:cNvSpPr/>
          <p:nvPr/>
        </p:nvSpPr>
        <p:spPr>
          <a:xfrm>
            <a:off x="914400" y="3154680"/>
            <a:ext cx="310896" cy="310896"/>
          </a:xfrm>
          <a:prstGeom prst="ellipse">
            <a:avLst/>
          </a:prstGeom>
          <a:solidFill>
            <a:srgbClr val="990011"/>
          </a:solidFill>
          <a:ln/>
        </p:spPr>
      </p:sp>
      <p:sp>
        <p:nvSpPr>
          <p:cNvPr id="12" name="Text 10"/>
          <p:cNvSpPr txBox="1"/>
          <p:nvPr/>
        </p:nvSpPr>
        <p:spPr>
          <a:xfrm>
            <a:off x="914400" y="31546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417320" y="2953512"/>
            <a:ext cx="3291840" cy="73152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Cyanotic means right to left</a:t>
            </a:r>
            <a:endParaRPr lang="en-US" sz="1400" dirty="0"/>
          </a:p>
        </p:txBody>
      </p:sp>
      <p:sp>
        <p:nvSpPr>
          <p:cNvPr id="14" name="Text 12"/>
          <p:cNvSpPr txBox="1"/>
          <p:nvPr/>
        </p:nvSpPr>
        <p:spPr>
          <a:xfrm>
            <a:off x="4846320" y="2953512"/>
            <a:ext cx="6400800" cy="73152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Central cyanosis, clubbing, polycythemia and growth retardation follow from chronic hypoxemia.</a:t>
            </a:r>
            <a:endParaRPr lang="en-US" sz="1200" dirty="0"/>
          </a:p>
        </p:txBody>
      </p:sp>
      <p:sp>
        <p:nvSpPr>
          <p:cNvPr id="15" name="Shape 13"/>
          <p:cNvSpPr/>
          <p:nvPr/>
        </p:nvSpPr>
        <p:spPr>
          <a:xfrm>
            <a:off x="640080" y="3922776"/>
            <a:ext cx="10881360" cy="1005840"/>
          </a:xfrm>
          <a:prstGeom prst="roundRect">
            <a:avLst>
              <a:gd name="adj" fmla="val 7273"/>
            </a:avLst>
          </a:prstGeom>
          <a:solidFill>
            <a:srgbClr val="FFFFFF"/>
          </a:solidFill>
          <a:ln/>
        </p:spPr>
      </p:sp>
      <p:sp>
        <p:nvSpPr>
          <p:cNvPr id="16" name="Shape 14"/>
          <p:cNvSpPr/>
          <p:nvPr/>
        </p:nvSpPr>
        <p:spPr>
          <a:xfrm>
            <a:off x="914400" y="4270248"/>
            <a:ext cx="310896" cy="310896"/>
          </a:xfrm>
          <a:prstGeom prst="ellipse">
            <a:avLst/>
          </a:prstGeom>
          <a:solidFill>
            <a:srgbClr val="990011"/>
          </a:solidFill>
          <a:ln/>
        </p:spPr>
      </p:sp>
      <p:sp>
        <p:nvSpPr>
          <p:cNvPr id="17" name="Text 15"/>
          <p:cNvSpPr txBox="1"/>
          <p:nvPr/>
        </p:nvSpPr>
        <p:spPr>
          <a:xfrm>
            <a:off x="914400" y="42702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17320" y="4069080"/>
            <a:ext cx="3291840" cy="73152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Acyanotic means left to right or obstruction</a:t>
            </a:r>
            <a:endParaRPr lang="en-US" sz="1400" dirty="0"/>
          </a:p>
        </p:txBody>
      </p:sp>
      <p:sp>
        <p:nvSpPr>
          <p:cNvPr id="19" name="Text 17"/>
          <p:cNvSpPr txBox="1"/>
          <p:nvPr/>
        </p:nvSpPr>
        <p:spPr>
          <a:xfrm>
            <a:off x="4846320" y="4069080"/>
            <a:ext cx="6400800" cy="73152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No cyanosis at first, but a long standing shunt raises pulmonary pressure and can reverse into Eisenmenger's syndrome.</a:t>
            </a:r>
            <a:endParaRPr lang="en-US" sz="1200" dirty="0"/>
          </a:p>
        </p:txBody>
      </p:sp>
      <p:sp>
        <p:nvSpPr>
          <p:cNvPr id="20" name="Shape 18"/>
          <p:cNvSpPr/>
          <p:nvPr/>
        </p:nvSpPr>
        <p:spPr>
          <a:xfrm>
            <a:off x="640080" y="5038344"/>
            <a:ext cx="10881360" cy="1005840"/>
          </a:xfrm>
          <a:prstGeom prst="roundRect">
            <a:avLst>
              <a:gd name="adj" fmla="val 7273"/>
            </a:avLst>
          </a:prstGeom>
          <a:solidFill>
            <a:srgbClr val="FFFFFF"/>
          </a:solidFill>
          <a:ln/>
        </p:spPr>
      </p:sp>
      <p:sp>
        <p:nvSpPr>
          <p:cNvPr id="21" name="Shape 19"/>
          <p:cNvSpPr/>
          <p:nvPr/>
        </p:nvSpPr>
        <p:spPr>
          <a:xfrm>
            <a:off x="914400" y="5385816"/>
            <a:ext cx="310896" cy="310896"/>
          </a:xfrm>
          <a:prstGeom prst="ellipse">
            <a:avLst/>
          </a:prstGeom>
          <a:solidFill>
            <a:srgbClr val="990011"/>
          </a:solidFill>
          <a:ln/>
        </p:spPr>
      </p:sp>
      <p:sp>
        <p:nvSpPr>
          <p:cNvPr id="22" name="Text 20"/>
          <p:cNvSpPr txBox="1"/>
          <p:nvPr/>
        </p:nvSpPr>
        <p:spPr>
          <a:xfrm>
            <a:off x="91440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417320" y="5184648"/>
            <a:ext cx="3291840" cy="73152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Counsel the woman planning pregnancy</a:t>
            </a:r>
            <a:endParaRPr lang="en-US" sz="1400" dirty="0"/>
          </a:p>
        </p:txBody>
      </p:sp>
      <p:sp>
        <p:nvSpPr>
          <p:cNvPr id="24" name="Text 22"/>
          <p:cNvSpPr txBox="1"/>
          <p:nvPr/>
        </p:nvSpPr>
        <p:spPr>
          <a:xfrm>
            <a:off x="4846320" y="5184648"/>
            <a:ext cx="6400800" cy="731520"/>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Fetal ultrasound screening is necessary to rule out heart malformations, since patients with congenital heart disease are more likely to have a baby with congenital heart disease.</a:t>
            </a:r>
            <a:endParaRPr lang="en-US" sz="1200" dirty="0"/>
          </a:p>
        </p:txBody>
      </p:sp>
      <p:sp>
        <p:nvSpPr>
          <p:cNvPr id="25" name="Text 23"/>
          <p:cNvSpPr txBox="1"/>
          <p:nvPr/>
        </p:nvSpPr>
        <p:spPr>
          <a:xfrm>
            <a:off x="640080" y="6263640"/>
            <a:ext cx="3657600" cy="365760"/>
          </a:xfrm>
          <a:prstGeom prst="rect">
            <a:avLst/>
          </a:prstGeom>
          <a:noFill/>
          <a:ln/>
        </p:spPr>
        <p:txBody>
          <a:bodyPr wrap="square" lIns="0" tIns="0" rIns="0" bIns="0" rtlCol="0" anchor="ctr"/>
          <a:lstStyle/>
          <a:p>
            <a:pPr indent="0" marL="0">
              <a:buNone/>
            </a:pPr>
            <a:r>
              <a:rPr lang="en-US" sz="1800" b="1" dirty="0">
                <a:solidFill>
                  <a:srgbClr val="FFFFFF"/>
                </a:solidFill>
                <a:latin typeface="Bookman Old Style" pitchFamily="34" charset="0"/>
                <a:ea typeface="Bookman Old Style" pitchFamily="34" charset="-122"/>
                <a:cs typeface="Bookman Old Style"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Presentation of Congenital Heart Disease</dc:title>
  <dc:subject>PptxGenJS Presentation</dc:subject>
  <dc:creator>MBBS IV</dc:creator>
  <cp:lastModifiedBy>MBBS IV</cp:lastModifiedBy>
  <cp:revision>1</cp:revision>
  <dcterms:created xsi:type="dcterms:W3CDTF">2026-09-06T14:11:05Z</dcterms:created>
  <dcterms:modified xsi:type="dcterms:W3CDTF">2026-09-06T14:11:05Z</dcterms:modified>
</cp:coreProperties>
</file>