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Competency 1.28. Two parts to answer: the causes of adult presentation, then the cyanotic versus acyanotic comparison.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Define it in one line, then the three facts: 1% of live births, male predominance except ASD and PDA, and the value of early recognition.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headings: maternal infections, drugs and radiation, genetic abnormalities, chromosomal abnormalities.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 is the whole answer: improved management means more survivors. Then add the undiagnosed patient and Eisenmenger's syndrome.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five are the core list from the book: endocarditis, arrhythmias, right heart failure from pulmonary hypertension, end stage heart failure, sudden cardiac death. Then paradoxical embolism, polycythemia and pregnancy.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Ts on the cyanotic side. Acyanotic side is the septal defects, the duct, and the obstructive lesions.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Cyanosis, clubbing, polycythemia and growth retardation all belong to the cyanotic group. Pulmonary hypertension belongs to the acyanotic left to right shunts.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here and take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737360"/>
            <a:ext cx="5852160" cy="5852160"/>
          </a:xfrm>
          <a:prstGeom prst="ellipse">
            <a:avLst/>
          </a:prstGeom>
          <a:solidFill>
            <a:srgbClr val="990011"/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566160"/>
            <a:ext cx="4023360" cy="402336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7772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99001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77724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COMPETENCY 1.28  |  IM 1.28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508760"/>
            <a:ext cx="85953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Enumerate the causes of adult presentation of congenital heart disease and describe the distinguishing features between cyanotic and acyanotic heart disease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731520" y="4434840"/>
            <a:ext cx="39319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05840" y="459028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F3C7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Monika R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4983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11231126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806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1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MBBS Fourth Year  •  General Medicine  •  Diseases of the Cardiovascular System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is congenital heart disease?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F6E4E6"/>
          </a:solidFill>
          <a:ln/>
          <a:effectLst>
            <a:outerShdw sx="100000" sy="100000" kx="0" ky="0" algn="bl" rotWithShape="0" blurRad="114300" dist="12700" dir="5400000">
              <a:srgbClr val="9A8A8A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69164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3C7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Congenital heart disease is due to abnormal development of a normal structure, or failure of a normal structure to develop fully.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3063240"/>
            <a:ext cx="3566160" cy="2377440"/>
          </a:xfrm>
          <a:prstGeom prst="roundRect">
            <a:avLst>
              <a:gd name="adj" fmla="val 3462"/>
            </a:avLst>
          </a:prstGeom>
          <a:solidFill>
            <a:srgbClr val="2F3C7E"/>
          </a:solidFill>
          <a:ln/>
          <a:effectLst>
            <a:outerShdw sx="100000" sy="100000" kx="0" ky="0" algn="bl" rotWithShape="0" blurRad="114300" dist="12700" dir="5400000">
              <a:srgbClr val="9A8A8A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14400" y="338328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20624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7B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live births are affected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3063240"/>
            <a:ext cx="3566160" cy="2377440"/>
          </a:xfrm>
          <a:prstGeom prst="roundRect">
            <a:avLst>
              <a:gd name="adj" fmla="val 3462"/>
            </a:avLst>
          </a:prstGeom>
          <a:solidFill>
            <a:srgbClr val="FCF6F5"/>
          </a:solidFill>
          <a:ln/>
          <a:effectLst>
            <a:outerShdw sx="100000" sy="100000" kx="0" ky="0" algn="bl" rotWithShape="0" blurRad="114300" dist="12700" dir="5400000">
              <a:srgbClr val="9A8A8A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663440" y="338328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Males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420624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affected more commonly, except ASD and PDA which are more common in females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46720" y="3063240"/>
            <a:ext cx="3566160" cy="2377440"/>
          </a:xfrm>
          <a:prstGeom prst="roundRect">
            <a:avLst>
              <a:gd name="adj" fmla="val 3462"/>
            </a:avLst>
          </a:prstGeom>
          <a:solidFill>
            <a:srgbClr val="FCF6F5"/>
          </a:solidFill>
          <a:ln/>
          <a:effectLst>
            <a:outerShdw sx="100000" sy="100000" kx="0" ky="0" algn="bl" rotWithShape="0" blurRad="114300" dist="12700" dir="5400000">
              <a:srgbClr val="9A8A8A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412480" y="338328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Early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0" y="420624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recognition matters, since early treatment gives a better outcome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3276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29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Manipal Prep Manual of Medicine, Manthappa M, 3rd edition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ETIOLOGY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Why does congenital heart disease occur?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5331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B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Maldevelopment is due to multifactorial genetic and environmental causes. The recognized risk factors are: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2697480" cy="3566160"/>
          </a:xfrm>
          <a:prstGeom prst="roundRect">
            <a:avLst>
              <a:gd name="adj" fmla="val 3051"/>
            </a:avLst>
          </a:prstGeom>
          <a:solidFill>
            <a:srgbClr val="FCF6F5"/>
          </a:solidFill>
          <a:ln/>
          <a:effectLst>
            <a:outerShdw sx="100000" sy="100000" kx="0" ky="0" algn="bl" rotWithShape="0" blurRad="114300" dist="12700" dir="5400000">
              <a:srgbClr val="9A8A8A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194560"/>
            <a:ext cx="457200" cy="457200"/>
          </a:xfrm>
          <a:prstGeom prst="ellipse">
            <a:avLst/>
          </a:prstGeom>
          <a:solidFill>
            <a:srgbClr val="99001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83464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F3C7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Maternal infections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657600"/>
            <a:ext cx="2057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Rubella infection, causing persistent ductus arteriosus and pulmonary stenosis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392424" y="1874520"/>
            <a:ext cx="2697480" cy="3566160"/>
          </a:xfrm>
          <a:prstGeom prst="roundRect">
            <a:avLst>
              <a:gd name="adj" fmla="val 3051"/>
            </a:avLst>
          </a:prstGeom>
          <a:solidFill>
            <a:srgbClr val="F6E4E6"/>
          </a:solidFill>
          <a:ln/>
          <a:effectLst>
            <a:outerShdw sx="100000" sy="100000" kx="0" ky="0" algn="bl" rotWithShape="0" blurRad="114300" dist="12700" dir="5400000">
              <a:srgbClr val="9A8A8A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758184" y="2194560"/>
            <a:ext cx="457200" cy="457200"/>
          </a:xfrm>
          <a:prstGeom prst="ellipse">
            <a:avLst/>
          </a:prstGeom>
          <a:solidFill>
            <a:srgbClr val="99001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58184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758184" y="283464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F3C7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Drugs and radiation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3758184" y="3657600"/>
            <a:ext cx="2057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 abuse causing septal defects, phenytoin associated with pulmonary stenosis, and radiation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36208" y="1874520"/>
            <a:ext cx="2697480" cy="3566160"/>
          </a:xfrm>
          <a:prstGeom prst="roundRect">
            <a:avLst>
              <a:gd name="adj" fmla="val 3051"/>
            </a:avLst>
          </a:prstGeom>
          <a:solidFill>
            <a:srgbClr val="FCF6F5"/>
          </a:solidFill>
          <a:ln/>
          <a:effectLst>
            <a:outerShdw sx="100000" sy="100000" kx="0" ky="0" algn="bl" rotWithShape="0" blurRad="114300" dist="12700" dir="5400000">
              <a:srgbClr val="9A8A8A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601968" y="2194560"/>
            <a:ext cx="457200" cy="457200"/>
          </a:xfrm>
          <a:prstGeom prst="ellipse">
            <a:avLst/>
          </a:prstGeom>
          <a:solidFill>
            <a:srgbClr val="99001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01968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601968" y="283464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F3C7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Genetic abnormalities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6601968" y="3657600"/>
            <a:ext cx="2057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Familial form of atrial septal defect, and congenital heart block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079992" y="1874520"/>
            <a:ext cx="2697480" cy="3566160"/>
          </a:xfrm>
          <a:prstGeom prst="roundRect">
            <a:avLst>
              <a:gd name="adj" fmla="val 3051"/>
            </a:avLst>
          </a:prstGeom>
          <a:solidFill>
            <a:srgbClr val="F6E4E6"/>
          </a:solidFill>
          <a:ln/>
          <a:effectLst>
            <a:outerShdw sx="100000" sy="100000" kx="0" ky="0" algn="bl" rotWithShape="0" blurRad="114300" dist="12700" dir="5400000">
              <a:srgbClr val="9A8A8A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445752" y="2194560"/>
            <a:ext cx="457200" cy="457200"/>
          </a:xfrm>
          <a:prstGeom prst="ellipse">
            <a:avLst/>
          </a:prstGeom>
          <a:solidFill>
            <a:srgbClr val="99001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445752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445752" y="283464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F3C7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Chromosomal abnormalities</a:t>
            </a:r>
            <a:endParaRPr lang="en-US" sz="1550" dirty="0"/>
          </a:p>
        </p:txBody>
      </p:sp>
      <p:sp>
        <p:nvSpPr>
          <p:cNvPr id="24" name="Text 22"/>
          <p:cNvSpPr txBox="1"/>
          <p:nvPr/>
        </p:nvSpPr>
        <p:spPr>
          <a:xfrm>
            <a:off x="9445752" y="3657600"/>
            <a:ext cx="2057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Septal defects and tetralogy of Fallot in Down's syndrome (trisomy 21); coarctation of the aorta in Turner's syndrome (45, XO)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3276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29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Manipal Prep Manual of Medicine, Manthappa M, 3rd edition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7B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THE SCENE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Why do we see congenital heart disease in adults?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99001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691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Because of improved medical and surgical management, more children with congenital heart disease are surviving into adolescence and adulthood.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3017520"/>
            <a:ext cx="356616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3310128"/>
            <a:ext cx="457200" cy="457200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3310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95020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9001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Survivors of childhood disease</a:t>
            </a:r>
            <a:endParaRPr lang="en-US" sz="155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466344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Operated or palliated patients now reach adult clinics and need lifelong follow up.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297680" y="3017520"/>
            <a:ext cx="356616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4663440" y="3310128"/>
            <a:ext cx="457200" cy="457200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63440" y="3310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95020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9001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Never diagnosed in childhood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466344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mild or silent lesion is missed, and the disease declares itself later through its complications.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046720" y="3017520"/>
            <a:ext cx="356616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8412480" y="3310128"/>
            <a:ext cx="457200" cy="457200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0" y="3310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0" y="395020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9001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Eisenmenger's syndrome</a:t>
            </a:r>
            <a:endParaRPr lang="en-US" sz="155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466344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long standing left to right shunt raises pulmonary pressure until flow reverses right to left, and the previously pink patient turns cyanosed.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3276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Manipal Prep Manual of Medicine, Manthappa M, 3rd edition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ENUMERATION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Causes of adult presentation of congenital heart disease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5331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B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of these may be the first time that the presence of congenital heart disease is noted.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349240" cy="960120"/>
          </a:xfrm>
          <a:prstGeom prst="roundRect">
            <a:avLst>
              <a:gd name="adj" fmla="val 8571"/>
            </a:avLst>
          </a:prstGeom>
          <a:solidFill>
            <a:srgbClr val="F6E4E6"/>
          </a:solidFill>
          <a:ln/>
          <a:effectLst>
            <a:outerShdw sx="100000" sy="100000" kx="0" ky="0" algn="bl" rotWithShape="0" blurRad="114300" dist="12700" dir="5400000">
              <a:srgbClr val="9A8A8A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2139696"/>
            <a:ext cx="329184" cy="329184"/>
          </a:xfrm>
          <a:prstGeom prst="ellipse">
            <a:avLst/>
          </a:prstGeom>
          <a:solidFill>
            <a:srgbClr val="99001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1396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95681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Infective endocarditis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2860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sites of shunts and damaged valves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926080"/>
            <a:ext cx="5349240" cy="960120"/>
          </a:xfrm>
          <a:prstGeom prst="roundRect">
            <a:avLst>
              <a:gd name="adj" fmla="val 8571"/>
            </a:avLst>
          </a:prstGeom>
          <a:solidFill>
            <a:srgbClr val="F6E4E6"/>
          </a:solidFill>
          <a:ln/>
          <a:effectLst>
            <a:outerShdw sx="100000" sy="100000" kx="0" ky="0" algn="bl" rotWithShape="0" blurRad="114300" dist="12700" dir="5400000">
              <a:srgbClr val="9A8A8A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77240" y="3236976"/>
            <a:ext cx="329184" cy="329184"/>
          </a:xfrm>
          <a:prstGeom prst="ellipse">
            <a:avLst/>
          </a:prstGeom>
          <a:solidFill>
            <a:srgbClr val="99001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32369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305409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and ventricular arrhythmias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3832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Palpitations in a previously undiagnosed adult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023360"/>
            <a:ext cx="5349240" cy="960120"/>
          </a:xfrm>
          <a:prstGeom prst="roundRect">
            <a:avLst>
              <a:gd name="adj" fmla="val 8571"/>
            </a:avLst>
          </a:prstGeom>
          <a:solidFill>
            <a:srgbClr val="F6E4E6"/>
          </a:solidFill>
          <a:ln/>
          <a:effectLst>
            <a:outerShdw sx="100000" sy="100000" kx="0" ky="0" algn="bl" rotWithShape="0" blurRad="114300" dist="12700" dir="5400000">
              <a:srgbClr val="9A8A8A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4334256"/>
            <a:ext cx="329184" cy="329184"/>
          </a:xfrm>
          <a:prstGeom prst="ellipse">
            <a:avLst/>
          </a:prstGeom>
          <a:solidFill>
            <a:srgbClr val="99001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43342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415137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heart failure due to pulmonary hypertension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44805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Follows a long standing left to right shunt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5120640"/>
            <a:ext cx="5349240" cy="960120"/>
          </a:xfrm>
          <a:prstGeom prst="roundRect">
            <a:avLst>
              <a:gd name="adj" fmla="val 8571"/>
            </a:avLst>
          </a:prstGeom>
          <a:solidFill>
            <a:srgbClr val="F6E4E6"/>
          </a:solidFill>
          <a:ln/>
          <a:effectLst>
            <a:outerShdw sx="100000" sy="100000" kx="0" ky="0" algn="bl" rotWithShape="0" blurRad="114300" dist="12700" dir="5400000">
              <a:srgbClr val="9A8A8A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77240" y="5431536"/>
            <a:ext cx="329184" cy="329184"/>
          </a:xfrm>
          <a:prstGeom prst="ellipse">
            <a:avLst/>
          </a:prstGeom>
          <a:solidFill>
            <a:srgbClr val="99001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77240" y="54315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52486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stage heart failure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234440" y="557784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late outcome of an uncorrected lesion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263640" y="1828800"/>
            <a:ext cx="5349240" cy="960120"/>
          </a:xfrm>
          <a:prstGeom prst="roundRect">
            <a:avLst>
              <a:gd name="adj" fmla="val 8571"/>
            </a:avLst>
          </a:prstGeom>
          <a:solidFill>
            <a:srgbClr val="F6E4E6"/>
          </a:solidFill>
          <a:ln/>
          <a:effectLst>
            <a:outerShdw sx="100000" sy="100000" kx="0" ky="0" algn="bl" rotWithShape="0" blurRad="114300" dist="12700" dir="5400000">
              <a:srgbClr val="9A8A8A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92240" y="2139696"/>
            <a:ext cx="329184" cy="329184"/>
          </a:xfrm>
          <a:prstGeom prst="ellipse">
            <a:avLst/>
          </a:prstGeom>
          <a:solidFill>
            <a:srgbClr val="990011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92240" y="21396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949440" y="195681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 cardiac death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6949440" y="22860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be the very first event that reveals the diagnosis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263640" y="2926080"/>
            <a:ext cx="5349240" cy="960120"/>
          </a:xfrm>
          <a:prstGeom prst="roundRect">
            <a:avLst>
              <a:gd name="adj" fmla="val 8571"/>
            </a:avLst>
          </a:prstGeom>
          <a:solidFill>
            <a:srgbClr val="FCF6F5"/>
          </a:solidFill>
          <a:ln/>
          <a:effectLst>
            <a:outerShdw sx="100000" sy="100000" kx="0" ky="0" algn="bl" rotWithShape="0" blurRad="114300" dist="12700" dir="5400000">
              <a:srgbClr val="9A8A8A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492240" y="3236976"/>
            <a:ext cx="329184" cy="329184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492240" y="32369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6949440" y="305409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Paradoxical embolism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949440" y="33832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Thrombus crosses from systemic veins to arteries through a defect such as VSD, causing stroke and abscesses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263640" y="4023360"/>
            <a:ext cx="5349240" cy="960120"/>
          </a:xfrm>
          <a:prstGeom prst="roundRect">
            <a:avLst>
              <a:gd name="adj" fmla="val 8571"/>
            </a:avLst>
          </a:prstGeom>
          <a:solidFill>
            <a:srgbClr val="FCF6F5"/>
          </a:solidFill>
          <a:ln/>
          <a:effectLst>
            <a:outerShdw sx="100000" sy="100000" kx="0" ky="0" algn="bl" rotWithShape="0" blurRad="114300" dist="12700" dir="5400000">
              <a:srgbClr val="9A8A8A">
                <a:alpha val="1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492240" y="4334256"/>
            <a:ext cx="329184" cy="329184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492240" y="43342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50" dirty="0"/>
          </a:p>
        </p:txBody>
      </p:sp>
      <p:sp>
        <p:nvSpPr>
          <p:cNvPr id="38" name="Text 36"/>
          <p:cNvSpPr txBox="1"/>
          <p:nvPr/>
        </p:nvSpPr>
        <p:spPr>
          <a:xfrm>
            <a:off x="6949440" y="415137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Polycythemia and thromboembolism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6949440" y="44805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Chronic hypoxemia leads to hyperviscosity and stroke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263640" y="5120640"/>
            <a:ext cx="5349240" cy="960120"/>
          </a:xfrm>
          <a:prstGeom prst="roundRect">
            <a:avLst>
              <a:gd name="adj" fmla="val 8571"/>
            </a:avLst>
          </a:prstGeom>
          <a:solidFill>
            <a:srgbClr val="FCF6F5"/>
          </a:solidFill>
          <a:ln/>
          <a:effectLst>
            <a:outerShdw sx="100000" sy="100000" kx="0" ky="0" algn="bl" rotWithShape="0" blurRad="114300" dist="12700" dir="5400000">
              <a:srgbClr val="9A8A8A">
                <a:alpha val="1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492240" y="5431536"/>
            <a:ext cx="329184" cy="329184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492240" y="54315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50" dirty="0"/>
          </a:p>
        </p:txBody>
      </p:sp>
      <p:sp>
        <p:nvSpPr>
          <p:cNvPr id="43" name="Text 41"/>
          <p:cNvSpPr txBox="1"/>
          <p:nvPr/>
        </p:nvSpPr>
        <p:spPr>
          <a:xfrm>
            <a:off x="6949440" y="52486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Pregnancy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6949440" y="557784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Detected on assessment; unsafe when pulmonary hypertension is present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63276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29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Manipal Prep Manual of Medicine, Manthappa M, 3rd edition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3.20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Classification of congenital heart diseases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94960" cy="4343400"/>
          </a:xfrm>
          <a:prstGeom prst="roundRect">
            <a:avLst>
              <a:gd name="adj" fmla="val 2105"/>
            </a:avLst>
          </a:prstGeom>
          <a:solidFill>
            <a:srgbClr val="2F3C7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7373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CYANOTIC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1488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E7B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to left shunting, or mixing of systemic and pulmonary blood flow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69748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Tetralogy of Fallot</a:t>
            </a:r>
            <a:endParaRPr lang="en-US" sz="14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Transposition of the great vessels</a:t>
            </a:r>
            <a:endParaRPr lang="en-US" sz="14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Tricuspid atresia</a:t>
            </a:r>
            <a:endParaRPr lang="en-US" sz="14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Truncus arteriosus</a:t>
            </a:r>
            <a:endParaRPr lang="en-US" sz="14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anomalous pulmonary venous connection (TAPVC)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914400" y="4983480"/>
            <a:ext cx="4206240" cy="548640"/>
          </a:xfrm>
          <a:prstGeom prst="roundRect">
            <a:avLst>
              <a:gd name="adj" fmla="val 16667"/>
            </a:avLst>
          </a:prstGeom>
          <a:solidFill>
            <a:srgbClr val="99001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498348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Mnemonic: the five Ts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0" y="1463040"/>
            <a:ext cx="5394960" cy="4343400"/>
          </a:xfrm>
          <a:prstGeom prst="roundRect">
            <a:avLst>
              <a:gd name="adj" fmla="val 2105"/>
            </a:avLst>
          </a:prstGeom>
          <a:solidFill>
            <a:srgbClr val="F6E4E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83680" y="17373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99001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ACYANOTIC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1488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to right shunt, or an obstructive lesion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583680" y="269748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septal defect (ASD)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septal defect (VSD)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 ductus arteriosus (PDA)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Coarctation of the aorta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Aortic stenosis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Congenital pulmonary valve regurgitation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stenosis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3276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29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Manipal Prep Manual of Medicine, Manthappa M, 3rd edition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Distinguishing features: cyanotic vs acyanotic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475488"/>
          </a:xfrm>
          <a:prstGeom prst="roundRect">
            <a:avLst>
              <a:gd name="adj" fmla="val 13462"/>
            </a:avLst>
          </a:prstGeom>
          <a:solidFill>
            <a:srgbClr val="2F3C7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417320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1417320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Cyanotic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7498080" y="1417320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Acyanotic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11064240" cy="530352"/>
          </a:xfrm>
          <a:prstGeom prst="rect">
            <a:avLst/>
          </a:prstGeom>
          <a:solidFill>
            <a:srgbClr val="FCF6F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1965960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Shunt direction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1965960"/>
            <a:ext cx="3931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to left, or mixing of circulations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498080" y="1965960"/>
            <a:ext cx="3931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to right, or an obstruction to outflow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496312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cyanosis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0" y="2496312"/>
            <a:ext cx="3931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498080" y="2496312"/>
            <a:ext cx="3931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Absent, until the shunt reverses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026664"/>
            <a:ext cx="11064240" cy="530352"/>
          </a:xfrm>
          <a:prstGeom prst="rect">
            <a:avLst/>
          </a:prstGeom>
          <a:solidFill>
            <a:srgbClr val="FCF6F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" y="3026664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Clubbing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3383280" y="3026664"/>
            <a:ext cx="3931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Present, from prolonged cyanosis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0" y="3026664"/>
            <a:ext cx="3931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3557016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Polycythemia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3383280" y="3557016"/>
            <a:ext cx="3931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Present, from chronic hypoxemia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498080" y="3557016"/>
            <a:ext cx="3931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087368"/>
            <a:ext cx="11064240" cy="530352"/>
          </a:xfrm>
          <a:prstGeom prst="rect">
            <a:avLst/>
          </a:prstGeom>
          <a:solidFill>
            <a:srgbClr val="FCF6F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77240" y="4087368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3383280" y="4087368"/>
            <a:ext cx="3931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retardation is common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0" y="4087368"/>
            <a:ext cx="3931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Usually preserved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4617720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blood flow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4617720"/>
            <a:ext cx="3931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Typically reduced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498080" y="4617720"/>
            <a:ext cx="3931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Increased, leading to pulmonary hypertension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5148072"/>
            <a:ext cx="11064240" cy="530352"/>
          </a:xfrm>
          <a:prstGeom prst="rect">
            <a:avLst/>
          </a:prstGeom>
          <a:solidFill>
            <a:srgbClr val="FCF6F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77240" y="5148072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Squatting and syncope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3383280" y="5148072"/>
            <a:ext cx="3931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in Fallot's tetralogy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498080" y="5148072"/>
            <a:ext cx="3931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feature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777240" y="5678424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3383280" y="5678424"/>
            <a:ext cx="3931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TOF, TGA, tricuspid atresia, truncus arteriosus, TAPVC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7498080" y="5678424"/>
            <a:ext cx="3931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ASD, VSD, PDA, coarctation, aortic and pulmonary stenosis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63276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29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Manipal Prep Manual of Medicine, Manthappa M, 3rd edition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108960"/>
            <a:ext cx="5852160" cy="5852160"/>
          </a:xfrm>
          <a:prstGeom prst="ellipse">
            <a:avLst/>
          </a:prstGeom>
          <a:solidFill>
            <a:srgbClr val="990011"/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-1280160"/>
            <a:ext cx="4206240" cy="42062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108960" y="233172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3108960" y="33832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E7B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are welcome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480560" y="4114800"/>
            <a:ext cx="36118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480560" y="4224528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F3C7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Monika R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4480560" y="459943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50" kern="0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11231126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63276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Manipal Prep Manual of Medicine, Manthappa M, 3rd edition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Adult Presentation of Congenital Heart Disease</dc:title>
  <dc:subject>PptxGenJS Presentation</dc:subject>
  <dc:creator>Monika R</dc:creator>
  <cp:lastModifiedBy>Monika R</cp:lastModifiedBy>
  <cp:revision>1</cp:revision>
  <dcterms:created xsi:type="dcterms:W3CDTF">2026-09-06T14:33:10Z</dcterms:created>
  <dcterms:modified xsi:type="dcterms:W3CDTF">2026-09-06T14:33:10Z</dcterms:modified>
</cp:coreProperties>
</file>